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 i="0">
                <a:solidFill>
                  <a:srgbClr val="43C495"/>
                </a:solidFill>
                <a:latin typeface="Consolas"/>
              </a:defRPr>
            </a:pPr>
            <a:r>
              <a:t>GRAXELLA · THE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 i="0">
                <a:solidFill>
                  <a:srgbClr val="FFFFFF"/>
                </a:solidFill>
                <a:latin typeface="Segoe UI"/>
              </a:defRPr>
            </a:pPr>
            <a:r>
              <a:t>Capabilities in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 i="0">
                <a:solidFill>
                  <a:srgbClr val="C9D4CE"/>
                </a:solidFill>
                <a:latin typeface="Segoe UI"/>
              </a:defRPr>
            </a:pPr>
            <a:r>
              <a:t>What the graxella package does today — seven capabilities, three scenarios, six user stories, and an honest as-is vs graxella-equipped comparison on every one of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 i="0">
                <a:solidFill>
                  <a:srgbClr val="7E8D85"/>
                </a:solidFill>
                <a:latin typeface="Consolas"/>
              </a:defRPr>
            </a:pPr>
            <a:r>
              <a:t>v0.1 · 2026-08 · EVERY NUMBER MEASURED · 354 TESTS · REAL-LLM SHOWCASE ON QWEN2.5:3B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WHAT GRAXELLA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A learning substrate UNDER your agent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Keep LangGraph / LangChain and your agents exactly as they are. One line puts the evidence loop underneath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675120" cy="2834640"/>
          </a:xfrm>
          <a:prstGeom prst="roundRect">
            <a:avLst>
              <a:gd name="adj" fmla="val 6000"/>
            </a:avLst>
          </a:prstGeom>
          <a:solidFill>
            <a:srgbClr val="1C2521"/>
          </a:solidFill>
          <a:ln w="12700">
            <a:solidFill>
              <a:srgbClr val="1C2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300" b="0" i="0">
                <a:solidFill>
                  <a:srgbClr val="5C6A63"/>
                </a:solidFill>
                <a:latin typeface="Consolas"/>
              </a:defRPr>
            </a:pPr>
            <a:r>
              <a:t>llm = ChatOllama(model="qwen2.5:3b")   # any model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triage    = create_react_agent(llm, [check_order,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                lookup_policy, shipping], name="triage")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responder = create_react_agent(llm, [send_email],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                               name="responder")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300" b="1" i="0">
                <a:solidFill>
                  <a:srgbClr val="43C495"/>
                </a:solidFill>
                <a:latin typeface="Consolas"/>
              </a:defRPr>
            </a:pPr>
            <a:r>
              <a:t>app = graxella.mesh([triage, responder],</a:t>
            </a:r>
          </a:p>
          <a:p>
            <a:pPr algn="l">
              <a:spcAft>
                <a:spcPts val="400"/>
              </a:spcAft>
              <a:defRPr sz="1300" b="1" i="0">
                <a:solidFill>
                  <a:srgbClr val="43C495"/>
                </a:solidFill>
                <a:latin typeface="Consolas"/>
              </a:defRPr>
            </a:pPr>
            <a:r>
              <a:t>                    domain="refunds")   # the new line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FFFFFF"/>
                </a:solidFill>
                <a:latin typeface="Consolas"/>
              </a:defRPr>
            </a:pPr>
            <a:r>
              <a:t>t = app.run_trajectory("order 1042 damaged - refund?")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1828800"/>
            <a:ext cx="3977639" cy="28346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600"/>
              </a:spcAft>
              <a:defRPr sz="1200" b="1" i="0">
                <a:solidFill>
                  <a:srgbClr val="14805E"/>
                </a:solidFill>
                <a:latin typeface="Segoe UI"/>
              </a:defRPr>
            </a:pPr>
            <a:r>
              <a:t>WHAT JUST TURNED ON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1C2521"/>
                </a:solidFill>
                <a:latin typeface="Segoe UI"/>
              </a:defRPr>
            </a:pPr>
            <a:r>
              <a:t>· every dispatch = decision + typed outcome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1C2521"/>
                </a:solidFill>
                <a:latin typeface="Segoe UI"/>
              </a:defRPr>
            </a:pPr>
            <a:r>
              <a:t>· case recall from verified history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1C2521"/>
                </a:solidFill>
                <a:latin typeface="Segoe UI"/>
              </a:defRPr>
            </a:pPr>
            <a:r>
              <a:t>· bounded multi-hop with loop detection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1C2521"/>
                </a:solidFill>
                <a:latin typeface="Segoe UI"/>
              </a:defRPr>
            </a:pPr>
            <a:r>
              <a:t>· tool heal ladder + evidence gate</a:t>
            </a:r>
          </a:p>
          <a:p>
            <a:pPr algn="l">
              <a:spcAft>
                <a:spcPts val="600"/>
              </a:spcAft>
              <a:defRPr sz="1200" b="0" i="0">
                <a:solidFill>
                  <a:srgbClr val="1C2521"/>
                </a:solidFill>
                <a:latin typeface="Segoe UI"/>
              </a:defRPr>
            </a:pPr>
            <a:r>
              <a:t>· cited audit trail, topology, OTel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8920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Model-agnostic by construction — </a:t>
            </a:r>
            <a:r>
              <a:rPr sz="1300">
                <a:solidFill>
                  <a:srgbClr val="1C2521"/>
                </a:solidFill>
                <a:latin typeface="Segoe UI"/>
              </a:rPr>
              <a:t>graxella never sees the model choice; all evidence is scoped per model_id, so learnings never leak across models.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Framework-agnostic by construction — </a:t>
            </a:r>
            <a:r>
              <a:rPr sz="1300">
                <a:solidFill>
                  <a:srgbClr val="1C2521"/>
                </a:solidFill>
                <a:latin typeface="Segoe UI"/>
              </a:rPr>
              <a:t>agents are plain callables or LangGraph graphs; tools adapt in one lambda. No YAML, no handoff protocol, no schema to author.</a:t>
            </a:r>
          </a:p>
          <a:p>
            <a:pPr>
              <a:spcAft>
                <a:spcPts val="6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Silent plumbing, loud failures — </a:t>
            </a:r>
            <a:r>
              <a:rPr sz="1300">
                <a:solidFill>
                  <a:srgbClr val="1C2521"/>
                </a:solidFill>
                <a:latin typeface="Segoe UI"/>
              </a:rPr>
              <a:t>nothing about your flow changes — but every dead end becomes a signal a human can see, never a silent retry.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THE CAPABILITY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Seven capabilities, one loop: evidence in, reliability 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Each one ships in the package today, with tests. The next seven slides take them one at a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624328" cy="19202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5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1 · OUTCOME LEDGER</a:t>
            </a:r>
          </a:p>
          <a:p>
            <a:pPr algn="l">
              <a:spcAft>
                <a:spcPts val="5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Every dispatch auto-records a decision and a typed outcome — mnema-backed, queryable, immutable.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1860" y="1874519"/>
            <a:ext cx="2624328" cy="19202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5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2 · CASE RECALL</a:t>
            </a:r>
          </a:p>
          <a:p>
            <a:pPr algn="l">
              <a:spcAft>
                <a:spcPts val="5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Verified past outcomes injected into context — agents stop repeating solved mistakes.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74519"/>
            <a:ext cx="2624328" cy="19202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5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3 · TOOL SELF-HEALING</a:t>
            </a:r>
          </a:p>
          <a:p>
            <a:pPr algn="l">
              <a:spcAft>
                <a:spcPts val="5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The heal ladder: fail once on drift, learn forever. LLM appears exactly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5420" y="1874519"/>
            <a:ext cx="2624328" cy="19202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5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4 · EVIDENCE GATE</a:t>
            </a:r>
          </a:p>
          <a:p>
            <a:pPr algn="l">
              <a:spcAft>
                <a:spcPts val="5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No behavior change without cited evidence — Bayesian, self-calibrating, human-reviewed when cold.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77639"/>
            <a:ext cx="2624328" cy="19202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5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5 · BOUNDED TRAJECTORIES</a:t>
            </a:r>
          </a:p>
          <a:p>
            <a:pPr algn="l">
              <a:spcAft>
                <a:spcPts val="5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Multi-hop with loop detection, budgets, typed handoffs. Runaways escalate, never burn.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1860" y="3977639"/>
            <a:ext cx="2624328" cy="19202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5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6 · PROGRESSIVE DISCLOSURE</a:t>
            </a:r>
          </a:p>
          <a:p>
            <a:pPr algn="l">
              <a:spcAft>
                <a:spcPts val="5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Agent capabilities revealed L0 to L3 as needed — token spend follows relevance.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3977639"/>
            <a:ext cx="2624328" cy="19202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5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7 · TRUST + OBSERVABILITY</a:t>
            </a:r>
          </a:p>
          <a:p>
            <a:pPr algn="l">
              <a:spcAft>
                <a:spcPts val="5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Cited tool trust, gate.why(), OTel spans, live topology map, control-plane API + CLI.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5420" y="3977639"/>
            <a:ext cx="2624328" cy="1920240"/>
          </a:xfrm>
          <a:prstGeom prst="roundRect">
            <a:avLst>
              <a:gd name="adj" fmla="val 6000"/>
            </a:avLst>
          </a:prstGeom>
          <a:solidFill>
            <a:srgbClr val="1C2521"/>
          </a:solidFill>
          <a:ln w="12700">
            <a:solidFill>
              <a:srgbClr val="1C2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500"/>
              </a:spcAft>
              <a:defRPr sz="1100" b="1" i="0">
                <a:solidFill>
                  <a:srgbClr val="43C495"/>
                </a:solidFill>
                <a:latin typeface="Segoe UI"/>
              </a:defRPr>
            </a:pPr>
            <a:r>
              <a:t>THE LOOP</a:t>
            </a:r>
          </a:p>
          <a:p>
            <a:pPr algn="l">
              <a:spcAft>
                <a:spcPts val="500"/>
              </a:spcAft>
              <a:defRPr sz="1100" b="0" i="0">
                <a:solidFill>
                  <a:srgbClr val="FFFFFF"/>
                </a:solidFill>
                <a:latin typeface="Segoe UI"/>
              </a:defRPr>
            </a:pPr>
            <a:r>
              <a:t>dispatch → outcome → ledger → proposal → gate → promotion. Volume becomes reliability.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CAPABILITY 1 OF 7 · OUTCOME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Every dispatch leaves evidence — with zero developer effort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route() records the decision (task, chosen agent, domain, model_id) and the typed outcome (ok, error class, tokens, latency, tools used) into the mnema ledger. Hot path &lt;2ms via a write-ahead buffer.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Typed, not textual — </a:t>
            </a:r>
            <a:r>
              <a:rPr sz="1300">
                <a:solidFill>
                  <a:srgbClr val="1C2521"/>
                </a:solidFill>
                <a:latin typeface="Segoe UI"/>
              </a:rPr>
              <a:t>outcomes are structured records, not log lines — outcome_stats() answers ok-rate, token and latency questions in one call.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Immutable + cited — </a:t>
            </a:r>
            <a:r>
              <a:rPr sz="1300">
                <a:solidFill>
                  <a:srgbClr val="1C2521"/>
                </a:solidFill>
                <a:latin typeface="Segoe UI"/>
              </a:rPr>
              <a:t>ledger assertions are append-only with provenance; trajectories cite their hop decisions (derived_from).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Scoped per model — </a:t>
            </a:r>
            <a:r>
              <a:rPr sz="1300">
                <a:solidFill>
                  <a:srgbClr val="1C2521"/>
                </a:solidFill>
                <a:latin typeface="Segoe UI"/>
              </a:rPr>
              <a:t>every record carries model_id — swap models and the evidence never cross-contaminates.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7EAE6"/>
          </a:solidFill>
          <a:ln w="12700">
            <a:solidFill>
              <a:srgbClr val="E3C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A9432E"/>
                </a:solidFill>
                <a:latin typeface="Segoe UI"/>
              </a:defRPr>
            </a:pPr>
            <a:r>
              <a:t>AS-IS (FRAMEWORK ALONE)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Telemetry is unstructured logs; "how often does triage fail on refunds?" means an hour of grep.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Sessions vanish when the process exits; nobody can reconstruct why an agent was chosen.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1605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BE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14805E"/>
                </a:solidFill>
                <a:latin typeface="Segoe UI"/>
              </a:defRPr>
            </a:pPr>
            <a:r>
              <a:t>GRAXELLA-EQUIPPED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memory.outcome_stats() — count, ok_rate, tokens, latency — one call, any slice.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Every choice is a decision record with an explanation; every result is a typed outcome citing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CAPABILITY 2 OF 7 · CASE RECALL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Agents that remember what actually worked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Before dispatch, graxella retrieves similar past cases whose outcomes are VERIFIED in the ledger and injects them as a compact context block (the Memento pattern).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Grounded in outcomes, not vibes — </a:t>
            </a:r>
            <a:r>
              <a:rPr sz="1300">
                <a:solidFill>
                  <a:srgbClr val="1C2521"/>
                </a:solidFill>
                <a:latin typeface="Segoe UI"/>
              </a:rPr>
              <a:t>only cases with recorded verified outcomes are recalled — no hallucinated "experience".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Automatic — </a:t>
            </a:r>
            <a:r>
              <a:rPr sz="1300">
                <a:solidFill>
                  <a:srgbClr val="1C2521"/>
                </a:solidFill>
                <a:latin typeface="Segoe UI"/>
              </a:rPr>
              <a:t>recall is on by default in mesh(); the agent prompt gains a short evidence block, nothing else changes.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Proven live — </a:t>
            </a:r>
            <a:r>
              <a:rPr sz="1300">
                <a:solidFill>
                  <a:srgbClr val="1C2521"/>
                </a:solidFill>
                <a:latin typeface="Segoe UI"/>
              </a:rPr>
              <a:t>in the refund-desk showcase, request 3 saw requests 1–2 as verified experience (recall.injected tracer event).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7EAE6"/>
          </a:solidFill>
          <a:ln w="12700">
            <a:solidFill>
              <a:srgbClr val="E3C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A9432E"/>
                </a:solidFill>
                <a:latin typeface="Segoe UI"/>
              </a:defRPr>
            </a:pPr>
            <a:r>
              <a:t>AS-IS (FRAMEWORK ALONE)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Every session starts from zero; the same mistake is re-made and re-billed daily.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"Memory" add-ons store chat text — unverified, unscoped, and unauditable.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1605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BE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14805E"/>
                </a:solidFill>
                <a:latin typeface="Segoe UI"/>
              </a:defRPr>
            </a:pPr>
            <a:r>
              <a:t>GRAXELLA-EQUIPPED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Solved cases compound: month six is measurably more reliable than week one.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Recall blocks cite ledger assertions — you can audit exactly what the agent was reminded of.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CAPABILITY 3 OF 7 · TOOL SELF-HEALING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The heal ladder: fail once, learn forever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ToolInterceptor wraps any tool (MCP, HTTP, LangChain — one lambda). On schema drift it climbs the cheapest rung that works. The LLM appears at exactly one rung, exactly once.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121408" cy="196596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000" b="1" i="0">
                <a:solidFill>
                  <a:srgbClr val="14805E"/>
                </a:solidFill>
                <a:latin typeface="Segoe UI"/>
              </a:defRPr>
            </a:pPr>
            <a:r>
              <a:t>RUNG 1 · HAPPY PATH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1C2521"/>
                </a:solidFill>
                <a:latin typeface="Segoe UI"/>
              </a:defRPr>
            </a:pPr>
            <a:r>
              <a:t>primary succeeds; typed outcome recorded.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1215" y="1965960"/>
            <a:ext cx="2121408" cy="196596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000" b="1" i="0">
                <a:solidFill>
                  <a:srgbClr val="14805E"/>
                </a:solidFill>
                <a:latin typeface="Segoe UI"/>
              </a:defRPr>
            </a:pPr>
            <a:r>
              <a:t>RUNG 2 · PROMOTED HEAL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1C2521"/>
                </a:solidFill>
                <a:latin typeface="Segoe UI"/>
              </a:defRPr>
            </a:pPr>
            <a:r>
              <a:t>a gate-approved transform from the Rulebook. ZERO LLM. Warms the gate for the next proposal.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2352" y="1965960"/>
            <a:ext cx="2121408" cy="196596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000" b="1" i="0">
                <a:solidFill>
                  <a:srgbClr val="14805E"/>
                </a:solidFill>
                <a:latin typeface="Segoe UI"/>
              </a:defRPr>
            </a:pPr>
            <a:r>
              <a:t>RUNG 2.5 · PROPOSED RECIPE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1C2521"/>
                </a:solidFill>
                <a:latin typeface="Segoe UI"/>
              </a:defRPr>
            </a:pPr>
            <a:r>
              <a:t>recipe awaiting review is reused deterministically — the LLM truly fires once per process.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33488" y="1965960"/>
            <a:ext cx="2121408" cy="196596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000" b="1" i="0">
                <a:solidFill>
                  <a:srgbClr val="A8691C"/>
                </a:solidFill>
                <a:latin typeface="Segoe UI"/>
              </a:defRPr>
            </a:pPr>
            <a:r>
              <a:t>RUNG 3 · HEAL ONCE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1C2521"/>
                </a:solidFill>
                <a:latin typeface="Segoe UI"/>
              </a:defRPr>
            </a:pPr>
            <a:r>
              <a:t>the pluggable healer (an LLM, once) proposes a TransformRecipe; success ships as a gated Proposal with paired-replay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4624" y="1965960"/>
            <a:ext cx="2121408" cy="1965960"/>
          </a:xfrm>
          <a:prstGeom prst="roundRect">
            <a:avLst>
              <a:gd name="adj" fmla="val 6000"/>
            </a:avLst>
          </a:prstGeom>
          <a:solidFill>
            <a:srgbClr val="F7EAE6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000" b="1" i="0">
                <a:solidFill>
                  <a:srgbClr val="A9432E"/>
                </a:solidFill>
                <a:latin typeface="Segoe UI"/>
              </a:defRPr>
            </a:pPr>
            <a:r>
              <a:t>RUNG 4 · LOUD FAILURE</a:t>
            </a:r>
          </a:p>
          <a:p>
            <a:pPr algn="l">
              <a:spcAft>
                <a:spcPts val="400"/>
              </a:spcAft>
              <a:defRPr sz="1000" b="0" i="0">
                <a:solidFill>
                  <a:srgbClr val="1C2521"/>
                </a:solidFill>
                <a:latin typeface="Segoe UI"/>
              </a:defRPr>
            </a:pPr>
            <a:r>
              <a:t>nothing worked: typed failure outcome, re-raise. Never a silent retry.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1605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7EAE6"/>
          </a:solidFill>
          <a:ln w="12700">
            <a:solidFill>
              <a:srgbClr val="E3C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A9432E"/>
                </a:solidFill>
                <a:latin typeface="Segoe UI"/>
              </a:defRPr>
            </a:pPr>
            <a:r>
              <a:t>AS-IS (FRAMEWORK ALONE)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A renamed API field breaks every call until a human ships a code fix — or an LLM "fixes" it on every single call, silently, at full token price.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605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BE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14805E"/>
                </a:solidFill>
                <a:latin typeface="Segoe UI"/>
              </a:defRPr>
            </a:pPr>
            <a:r>
              <a:t>GRAXELLA-EQUIPPED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Measured in the real-LLM showcase: two drift events, LLM healer invocations total = 1. The second heal was a promoted, cited, deterministic transform.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CAPABILITY 4 OF 7 · EVIDENCE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Nothing changes runtime behavior without cited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Every learned artifact (transform, rule, binding) is a Proposal decided by a Bayesian gate per (domain, kind, target, model) tuple — never by a score someone tuned, never by an LLM.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Self-calibrating threshold — </a:t>
            </a:r>
            <a:r>
              <a:rPr sz="1300">
                <a:solidFill>
                  <a:srgbClr val="1C2521"/>
                </a:solidFill>
                <a:latin typeface="Segoe UI"/>
              </a:rPr>
              <a:t>thr(n) = 0.85 + 0.10·e^(−n/20): strict when evidence is thin, earned confidence as it accumulates.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Cold start goes to a human — </a:t>
            </a:r>
            <a:r>
              <a:rPr sz="1300">
                <a:solidFill>
                  <a:srgbClr val="1C2521"/>
                </a:solidFill>
                <a:latin typeface="Segoe UI"/>
              </a:rPr>
              <a:t>unproven tuples land in the review queue (NEEDS_HUMAN); approvals are themselves ledger assertions.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Constitution beats everyone — </a:t>
            </a:r>
            <a:r>
              <a:rPr sz="1300">
                <a:solidFill>
                  <a:srgbClr val="1C2521"/>
                </a:solidFill>
                <a:latin typeface="Segoe UI"/>
              </a:rPr>
              <a:t>hard blocks outrank all evidence — including human approvals. Verdicts render with citations via gate.why().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Versioned + rollbackable — </a:t>
            </a:r>
            <a:r>
              <a:rPr sz="1300">
                <a:solidFill>
                  <a:srgbClr val="1C2521"/>
                </a:solidFill>
                <a:latin typeface="Segoe UI"/>
              </a:rPr>
              <a:t>promotions carry lineage (gate verdict, approver); rollback is a state change, not an archaeology dig.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7EAE6"/>
          </a:solidFill>
          <a:ln w="12700">
            <a:solidFill>
              <a:srgbClr val="E3C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A9432E"/>
                </a:solidFill>
                <a:latin typeface="Segoe UI"/>
              </a:defRPr>
            </a:pPr>
            <a:r>
              <a:t>AS-IS (FRAMEWORK ALONE)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"Learning" = someone edits a prompt on a Friday; no record, no rollback, no threshold.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Or: autonomous self-modification you can't explain to an auditor.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1605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BE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14805E"/>
                </a:solidFill>
                <a:latin typeface="Segoe UI"/>
              </a:defRPr>
            </a:pPr>
            <a:r>
              <a:t>GRAXELLA-EQUIPPED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Every behavior change: proposed, evidence-cited, gate-decided, human-reviewed when cold, promoted with lineage.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gate.why() prints the full verdict chain — audit-ready by construction.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CAPABILITY 5 OF 7 · BOUNDED TRAJECTORIES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Multi-hop that cannot run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run_trajectory() drives route → execute → assess → handoff with four containments aimed at MAST's two most frequent failure modes: step repetition (15.7%) and no termination (12.4%).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Loop detection — </a:t>
            </a:r>
            <a:r>
              <a:rPr sz="1300">
                <a:solidFill>
                  <a:srgbClr val="1C2521"/>
                </a:solidFill>
                <a:latin typeface="Segoe UI"/>
              </a:rPr>
              <a:t>a repeated (agent, response-state) signature stops the chain and escalates — never re-runs.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Budgets — </a:t>
            </a:r>
            <a:r>
              <a:rPr sz="1300">
                <a:solidFill>
                  <a:srgbClr val="1C2521"/>
                </a:solidFill>
                <a:latin typeface="Segoe UI"/>
              </a:rPr>
              <a:t>max hops, tokens, wallclock; exhaustion escalates with a ledger signal instead of burning the bill.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Typed handoffs — </a:t>
            </a:r>
            <a:r>
              <a:rPr sz="1300">
                <a:solidFill>
                  <a:srgbClr val="1C2521"/>
                </a:solidFill>
                <a:latin typeface="Segoe UI"/>
              </a:rPr>
              <a:t>agents hand off with 'HANDOFF: &lt;peer&gt; :: &lt;task&gt;' — every hop is a full audited route(). Self-handoffs and unknown peers complete loudly (a real-qwen2.5:3b lesson, now a test).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The chain is a ledger object — </a:t>
            </a:r>
            <a:r>
              <a:rPr sz="1300">
                <a:solidFill>
                  <a:srgbClr val="1C2521"/>
                </a:solidFill>
                <a:latin typeface="Segoe UI"/>
              </a:rPr>
              <a:t>predicate="trajectory", derived_from = every hop decision — chain-level evidence for miners.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605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7EAE6"/>
          </a:solidFill>
          <a:ln w="12700">
            <a:solidFill>
              <a:srgbClr val="E3C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A9432E"/>
                </a:solidFill>
                <a:latin typeface="Segoe UI"/>
              </a:defRPr>
            </a:pPr>
            <a:r>
              <a:t>AS-IS (FRAMEWORK ALONE)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Two agents politely hand the same task back and forth until the token budget — or the credit card — gives out.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A 3B model hands off to itself forever; nobody notices until the invoice.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1605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BE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14805E"/>
                </a:solidFill>
                <a:latin typeface="Segoe UI"/>
              </a:defRPr>
            </a:pPr>
            <a:r>
              <a:t>GRAXELLA-EQUIPPED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Loop detected at the first repeat; contained in 2–3 hops; a trajectory_escalation signal reaches a human.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Self-handoff completes immediately with a loud tracer event — measured, tested, shipped.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CAPABILITY 6 OF 7 · PROGRESSIVE DISCLOSURE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Token spend follows relevance, not roster 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Peer capabilities are revealed in levels — the router decides who earns more tokens. No more pasting every agent card into every prompt.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L0 · AWARENESS</a:t>
            </a:r>
          </a:p>
          <a:p>
            <a:pPr algn="l">
              <a:spcAft>
                <a:spcPts val="400"/>
              </a:spcAft>
              <a:defRPr sz="1100" b="1" i="0">
                <a:solidFill>
                  <a:srgbClr val="A8691C"/>
                </a:solidFill>
                <a:latin typeface="Segoe UI"/>
              </a:defRPr>
            </a:pPr>
            <a:r>
              <a:t>≤ 25 tokens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every peer, always: name + one-line skill.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1860" y="196596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L1 · SHORTLIST</a:t>
            </a:r>
          </a:p>
          <a:p>
            <a:pPr algn="l">
              <a:spcAft>
                <a:spcPts val="400"/>
              </a:spcAft>
              <a:defRPr sz="1100" b="1" i="0">
                <a:solidFill>
                  <a:srgbClr val="A8691C"/>
                </a:solidFill>
                <a:latin typeface="Segoe UI"/>
              </a:defRPr>
            </a:pPr>
            <a:r>
              <a:t>≤ 120 tokens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route-relevant peers get a skill digest, pre-routed by the deterministic router.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6596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L2 · WINNER</a:t>
            </a:r>
          </a:p>
          <a:p>
            <a:pPr algn="l">
              <a:spcAft>
                <a:spcPts val="400"/>
              </a:spcAft>
              <a:defRPr sz="1100" b="1" i="0">
                <a:solidFill>
                  <a:srgbClr val="A8691C"/>
                </a:solidFill>
                <a:latin typeface="Segoe UI"/>
              </a:defRPr>
            </a:pPr>
            <a:r>
              <a:t>≤ 600 tokens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the chosen peer's full card — capabilities, constraints, examples.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75420" y="1965960"/>
            <a:ext cx="2624328" cy="182880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L3 · INVOCATION</a:t>
            </a:r>
          </a:p>
          <a:p>
            <a:pPr algn="l">
              <a:spcAft>
                <a:spcPts val="400"/>
              </a:spcAft>
              <a:defRPr sz="1100" b="1" i="0">
                <a:solidFill>
                  <a:srgbClr val="A8691C"/>
                </a:solidFill>
                <a:latin typeface="Segoe UI"/>
              </a:defRPr>
            </a:pPr>
            <a:r>
              <a:t>as needed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live handoff context for the actual call.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605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F7EAE6"/>
          </a:solidFill>
          <a:ln w="12700">
            <a:solidFill>
              <a:srgbClr val="E3C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A9432E"/>
                </a:solidFill>
                <a:latin typeface="Segoe UI"/>
              </a:defRPr>
            </a:pPr>
            <a:r>
              <a:t>AS-IS (FRAMEWORK ALONE)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50 agents × full capability cards × every prompt = thousands of "waiting tokens" per call, paid forever.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160520"/>
            <a:ext cx="5349240" cy="196596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BE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14805E"/>
                </a:solidFill>
                <a:latin typeface="Segoe UI"/>
              </a:defRPr>
            </a:pPr>
            <a:r>
              <a:t>GRAXELLA-EQUIPPED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Deterministic TF-IDF routing picks the shortlist BEFORE the LLM sees anything; disclosure budgets are enforced, not aspirational.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CAPABILITY 7 OF 7 · TRUST +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Every answer to "why?" is one call 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The same ledger that powers learning powers explanation — no second telemetry system to keep honest.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66160" cy="132588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gate.why(id)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the cited verdict chain for any learned behavior — evidence, threshold, approver, constitution checks.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566160" cy="132588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tool_trust()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Laplace-smoothed trust per tool from real outcomes: (s+1)/(s+f+2) — no hand-tuned scores.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59" y="1920240"/>
            <a:ext cx="3566160" cy="132588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OTel bridge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gen_ai.* spans + graxella.* attributes — traces land in Jaeger/your APM, not a proprietary viewer.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83280"/>
            <a:ext cx="3566160" cy="132588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Topology map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one HTML file, zero dependencies: agents, tools, trust and flow at a glance.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3383280"/>
            <a:ext cx="3566160" cy="132588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100" b="1" i="0">
                <a:solidFill>
                  <a:srgbClr val="14805E"/>
                </a:solidFill>
                <a:latin typeface="Segoe UI"/>
              </a:defRPr>
            </a:pPr>
            <a:r>
              <a:t>Control plane</a:t>
            </a:r>
          </a:p>
          <a:p>
            <a:pPr algn="l">
              <a:spcAft>
                <a:spcPts val="400"/>
              </a:spcAft>
              <a:defRPr sz="1100" b="0" i="0">
                <a:solidFill>
                  <a:srgbClr val="1C2521"/>
                </a:solidFill>
                <a:latin typeface="Segoe UI"/>
              </a:defRPr>
            </a:pPr>
            <a:r>
              <a:t>FastAPI service: /health /stats /trust /gate/* /ingest — plus a CLI (graxella tokens, graxella gate).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9834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F7EAE6"/>
          </a:solidFill>
          <a:ln w="12700">
            <a:solidFill>
              <a:srgbClr val="E3C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A9432E"/>
                </a:solidFill>
                <a:latin typeface="Segoe UI"/>
              </a:defRPr>
            </a:pPr>
            <a:r>
              <a:t>AS-IS (FRAMEWORK ALONE)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"Why did the agent do that?" → grep logs, interview the developer, shrug.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983480"/>
            <a:ext cx="5349240" cy="137160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BE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14805E"/>
                </a:solidFill>
                <a:latin typeface="Segoe UI"/>
              </a:defRPr>
            </a:pPr>
            <a:r>
              <a:t>GRAXELLA-EQUIPPED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Decisions, outcomes, trust, verdicts and topology are queryable surfaces of one immutable ledger.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A8691C"/>
                </a:solidFill>
                <a:latin typeface="Consolas"/>
              </a:defRPr>
            </a:pPr>
            <a:r>
              <a:t>SCENARIO A · MEASURED, NOT SIMULATED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The refund desk — two real qwen2.5:3b agents,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showcase/08_refund_desk.py: TRIAGE (order/policy/shipping tools) hands off to RESPONDER (email) over a drifted internal shipping API. Everything below is from the actual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94960" cy="3931920"/>
          </a:xfrm>
          <a:prstGeom prst="roundRect">
            <a:avLst>
              <a:gd name="adj" fmla="val 6000"/>
            </a:avLst>
          </a:prstGeom>
          <a:solidFill>
            <a:srgbClr val="1C2521"/>
          </a:solidFill>
          <a:ln w="12700">
            <a:solidFill>
              <a:srgbClr val="1C25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200" b="0" i="0">
                <a:solidFill>
                  <a:srgbClr val="5C6A63"/>
                </a:solidFill>
                <a:latin typeface="Consolas"/>
              </a:defRPr>
            </a:pPr>
            <a:r>
              <a:t>$ uv run python showcase/08_refund_desk.py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[1] order 1042 damaged, wants refund...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hops=['triage','responder']  completed (6s)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43C495"/>
                </a:solidFill>
                <a:latin typeface="Consolas"/>
              </a:defRPr>
            </a:pPr>
            <a:r>
              <a:t>    reply: 'refundable within 30 days...'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[2] refund for order 2077 desk lamp...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    completed (4s) — 40 days old: store credit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[3] order 1042 damaged again...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43C495"/>
                </a:solidFill>
                <a:latin typeface="Consolas"/>
              </a:defRPr>
            </a:pPr>
            <a:r>
              <a:t>    case-recall: saw [1]-[2] as experience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200" b="0" i="0">
                <a:solidFill>
                  <a:srgbClr val="A9432E"/>
                </a:solidFill>
                <a:latin typeface="Consolas"/>
              </a:defRPr>
            </a:pPr>
            <a:r>
              <a:t>shipping drift: HTTP_410_GONE schema deprecated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FFFFFF"/>
                </a:solidFill>
                <a:latin typeface="Consolas"/>
              </a:defRPr>
            </a:pPr>
            <a:r>
              <a:t>heal → gate → operator approve → promote</a:t>
            </a:r>
          </a:p>
          <a:p>
            <a:pPr algn="l">
              <a:spcAft>
                <a:spcPts val="400"/>
              </a:spcAft>
              <a:defRPr sz="1200" b="1" i="0">
                <a:solidFill>
                  <a:srgbClr val="43C495"/>
                </a:solidFill>
                <a:latin typeface="Consolas"/>
              </a:defRPr>
            </a:pPr>
            <a:r>
              <a:t>LLM healer invocations, total: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2024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250">
                <a:solidFill>
                  <a:srgbClr val="14805E"/>
                </a:solidFill>
                <a:latin typeface="Segoe UI"/>
              </a:rPr>
              <a:t>Answers in 4–6 s — </a:t>
            </a:r>
            <a:r>
              <a:rPr sz="1250">
                <a:solidFill>
                  <a:srgbClr val="1C2521"/>
                </a:solidFill>
                <a:latin typeface="Segoe UI"/>
              </a:rPr>
              <a:t>with correct policy applied (30-day damaged window vs store credit) — small model, contained runtime.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4805E"/>
                </a:solidFill>
                <a:latin typeface="Segoe UI"/>
              </a:rPr>
              <a:t>One LLM heal, ever — </a:t>
            </a:r>
            <a:r>
              <a:rPr sz="1250">
                <a:solidFill>
                  <a:srgbClr val="1C2521"/>
                </a:solidFill>
                <a:latin typeface="Segoe UI"/>
              </a:rPr>
              <a:t>drift #1 pays the LLM once; drift #2 heals via the promoted transform at zero LLM cost.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4805E"/>
                </a:solidFill>
                <a:latin typeface="Segoe UI"/>
              </a:rPr>
              <a:t>Full audit for free — </a:t>
            </a:r>
            <a:r>
              <a:rPr sz="1250">
                <a:solidFill>
                  <a:srgbClr val="1C2521"/>
                </a:solidFill>
                <a:latin typeface="Segoe UI"/>
              </a:rPr>
              <a:t>every hop a decision+outcome; gate.why() cites the operator's approval; topology.html written.</a:t>
            </a:r>
          </a:p>
          <a:p>
            <a:pPr>
              <a:spcAft>
                <a:spcPts val="700"/>
              </a:spcAft>
            </a:pPr>
            <a:r>
              <a:rPr b="1" sz="1250">
                <a:solidFill>
                  <a:srgbClr val="14805E"/>
                </a:solidFill>
                <a:latin typeface="Segoe UI"/>
              </a:rPr>
              <a:t>Model honesty — </a:t>
            </a:r>
            <a:r>
              <a:rPr sz="1250">
                <a:solidFill>
                  <a:srgbClr val="1C2521"/>
                </a:solidFill>
                <a:latin typeface="Segoe UI"/>
              </a:rPr>
              <a:t>qwen2.5:3b sometimes mangles handoff markers — the runtime contains it loudly instead of spinning.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A8691C"/>
                </a:solidFill>
                <a:latin typeface="Consolas"/>
              </a:defRPr>
            </a:pPr>
            <a:r>
              <a:t>SCENARIO B · USER STORY: THE ON-CALL ENGINEER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2:00 AM: a vendor renames a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"As an on-call SRE, I want tool schema drift to heal itself under governance, so that drift stops paging me."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10881360" cy="804672"/>
          </a:xfrm>
          <a:prstGeom prst="roundRect">
            <a:avLst>
              <a:gd name="adj" fmla="val 6000"/>
            </a:avLst>
          </a:prstGeom>
          <a:solidFill>
            <a:srgbClr val="FAFBF9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9611" bIns="89611"/>
          <a:lstStyle/>
          <a:p>
            <a:pPr algn="l">
              <a:spcAft>
                <a:spcPts val="4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02:00 — vendor ships shipping.v2; order_id becomes order_ref. Every agent call starts failing with HTTP_410_GONE.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62072"/>
            <a:ext cx="10881360" cy="804672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9611" bIns="89611"/>
          <a:lstStyle/>
          <a:p>
            <a:pPr algn="l">
              <a:spcAft>
                <a:spcPts val="4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02:00:04 — the interceptor recognizes the drift signature, invokes the healer LLM ONCE; the proposed rename works on replay.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758183"/>
            <a:ext cx="10881360" cy="804672"/>
          </a:xfrm>
          <a:prstGeom prst="roundRect">
            <a:avLst>
              <a:gd name="adj" fmla="val 6000"/>
            </a:avLst>
          </a:prstGeom>
          <a:solidFill>
            <a:srgbClr val="FAFBF9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9611" bIns="89611"/>
          <a:lstStyle/>
          <a:p>
            <a:pPr algn="l">
              <a:spcAft>
                <a:spcPts val="4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02:00:05 — a Proposal with paired-replay evidence lands in the gate. Cold tuple → review queue. Calls keep flowing on the proposed recipe (rung 2.5, zero further LLM).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654296"/>
            <a:ext cx="10881360" cy="804672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89611" bIns="89611"/>
          <a:lstStyle/>
          <a:p>
            <a:pPr algn="l">
              <a:spcAft>
                <a:spcPts val="400"/>
              </a:spcAft>
              <a:defRPr sz="1250" b="0" i="0">
                <a:solidFill>
                  <a:srgbClr val="1C2521"/>
                </a:solidFill>
                <a:latin typeface="Segoe UI"/>
              </a:defRPr>
            </a:pPr>
            <a:r>
              <a:t>09:00 — a human reviews the one-line diff over coffee, approves; the transform is promoted with lineage. The tuple is warmer for next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62356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F7EAE6"/>
          </a:solidFill>
          <a:ln w="12700">
            <a:solidFill>
              <a:srgbClr val="E3C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A9432E"/>
                </a:solidFill>
                <a:latin typeface="Segoe UI"/>
              </a:defRPr>
            </a:pPr>
            <a:r>
              <a:t>AS-IS (FRAMEWORK ALONE)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Pager fires at 02:00. Agents fail all night, or a runtime LLM "fixes" every call silently at full price with no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5623560"/>
            <a:ext cx="5349240" cy="96012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BE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14805E"/>
                </a:solidFill>
                <a:latin typeface="Segoe UI"/>
              </a:defRPr>
            </a:pPr>
            <a:r>
              <a:t>GRAXELLA-EQUIPPED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Zero pages. One LLM call, one human review, one promoted transform — cited, versioned, rollbackable.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A8691C"/>
                </a:solidFill>
                <a:latin typeface="Consolas"/>
              </a:defRPr>
            </a:pPr>
            <a:r>
              <a:t>SCENARIO C · USER STORY: THE OPS LEAD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Two polite agents, one infinite bill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C6A63"/>
                </a:solidFill>
                <a:latin typeface="Segoe UI"/>
              </a:defRPr>
            </a:pPr>
            <a:r>
              <a:t>"As a support-ops lead, I want runaway agent chains contained automatically, so that a loop never becomes an invoice."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The setup — </a:t>
            </a:r>
            <a:r>
              <a:rPr sz="1300">
                <a:solidFill>
                  <a:srgbClr val="1C2521"/>
                </a:solidFill>
                <a:latin typeface="Segoe UI"/>
              </a:rPr>
              <a:t>PING hands the task to PONG; PONG hands it straight back. Both are being perfectly "helpful". This is MAST FM-1.3 — the single most frequent multi-agent failure mode observed (15.7%).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What graxella does — </a:t>
            </a:r>
            <a:r>
              <a:rPr sz="1300">
                <a:solidFill>
                  <a:srgbClr val="1C2521"/>
                </a:solidFill>
                <a:latin typeface="Segoe UI"/>
              </a:rPr>
              <a:t>hop 1: ping. Hop 2: pong. Hop 3: the (agent, response-state) signature repeats → status=loop_detected, chain stopped, trajectory_escalation signal recorded, tracer event emitted. A human sees it; the bill doesn't.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The subtler cousin — </a:t>
            </a:r>
            <a:r>
              <a:rPr sz="1300">
                <a:solidFill>
                  <a:srgbClr val="1C2521"/>
                </a:solidFill>
                <a:latin typeface="Segoe UI"/>
              </a:rPr>
              <a:t>a small model handing off to itself — seen live with qwen2.5:3b. The runtime completes the work loudly (self_handoff_ignored event) instead of spinning. Found in the real showcase, fixed in the substrate, locked with a test.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14805E"/>
                </a:solidFill>
                <a:latin typeface="Segoe UI"/>
              </a:rPr>
              <a:t>Budgets as the backstop — </a:t>
            </a:r>
            <a:r>
              <a:rPr sz="1300">
                <a:solidFill>
                  <a:srgbClr val="1C2521"/>
                </a:solidFill>
                <a:latin typeface="Segoe UI"/>
              </a:rPr>
              <a:t>TrajectoryBudget(max_hops, max_tokens, max_wallclock_s) — even novel loop shapes exhaust a budget and escalate instead of running away.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25780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7EAE6"/>
          </a:solidFill>
          <a:ln w="12700">
            <a:solidFill>
              <a:srgbClr val="E3C6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A9432E"/>
                </a:solidFill>
                <a:latin typeface="Segoe UI"/>
              </a:defRPr>
            </a:pPr>
            <a:r>
              <a:t>AS-IS (FRAMEWORK ALONE)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Discovered days later as a line item on the token invoice.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5257800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E2EFE9"/>
          </a:solidFill>
          <a:ln w="12700">
            <a:solidFill>
              <a:srgbClr val="BED9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300"/>
              </a:spcAft>
              <a:defRPr sz="1150" b="1" i="0">
                <a:solidFill>
                  <a:srgbClr val="14805E"/>
                </a:solidFill>
                <a:latin typeface="Segoe UI"/>
              </a:defRPr>
            </a:pPr>
            <a:r>
              <a:t>GRAXELLA-EQUIPPED</a:t>
            </a:r>
          </a:p>
          <a:p>
            <a:pPr algn="l">
              <a:spcAft>
                <a:spcPts val="300"/>
              </a:spcAft>
              <a:defRPr sz="1150" b="0" i="0">
                <a:solidFill>
                  <a:srgbClr val="1C2521"/>
                </a:solidFill>
                <a:latin typeface="Segoe UI"/>
              </a:defRPr>
            </a:pPr>
            <a:r>
              <a:t>Contained within 2–3 hops; escalated as a typed signal with the full hop history in the ledger.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USER STORIES · THE PEOPLE WHO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Stories the package already delivers — build 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200" b="1" i="0">
                <a:solidFill>
                  <a:srgbClr val="14805E"/>
                </a:solidFill>
                <a:latin typeface="Segoe UI"/>
              </a:defRPr>
            </a:pPr>
            <a:r>
              <a:t>PLATFORM ENGINEER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C2521"/>
                </a:solidFill>
                <a:latin typeface="Segoe UI"/>
              </a:defRPr>
            </a:pPr>
            <a:r>
              <a:t>"As a platform engineer, I want to put a reliability substrate under our existing LangGraph agents without rewriting them."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5C6A63"/>
                </a:solidFill>
                <a:latin typeface="Segoe UI"/>
              </a:defRPr>
            </a:pPr>
            <a:r>
              <a:t>Shipped as: graxella.mesh([your_agents]) — one line; agents and tools keep their native shape; no YAML, no protocol to author.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200" b="1" i="0">
                <a:solidFill>
                  <a:srgbClr val="14805E"/>
                </a:solidFill>
                <a:latin typeface="Segoe UI"/>
              </a:defRPr>
            </a:pPr>
            <a:r>
              <a:t>AGENT DEVELOPER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C2521"/>
                </a:solidFill>
                <a:latin typeface="Segoe UI"/>
              </a:defRPr>
            </a:pPr>
            <a:r>
              <a:t>"As an agent developer, I want my agents to stop repeating mistakes they already made last week."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5C6A63"/>
                </a:solidFill>
                <a:latin typeface="Segoe UI"/>
              </a:defRPr>
            </a:pPr>
            <a:r>
              <a:t>Shipped as: automatic case recall — verified outcomes from the ledger injected as compact context, cited and auditable.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0060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200" b="1" i="0">
                <a:solidFill>
                  <a:srgbClr val="14805E"/>
                </a:solidFill>
                <a:latin typeface="Segoe UI"/>
              </a:defRPr>
            </a:pPr>
            <a:r>
              <a:t>DATA / ML ENGINEER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C2521"/>
                </a:solidFill>
                <a:latin typeface="Segoe UI"/>
              </a:defRPr>
            </a:pPr>
            <a:r>
              <a:t>"As an ML engineer, I want to swap or A/B models without losing or polluting what the system has learned."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5C6A63"/>
                </a:solidFill>
                <a:latin typeface="Segoe UI"/>
              </a:defRPr>
            </a:pPr>
            <a:r>
              <a:t>Shipped as: model_id scoping on every decision, outcome and promotion — evidence never leaks across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USER STORIES · THE PEOPLE WHO RUN AND ANSWER FOR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 i="0">
                <a:solidFill>
                  <a:srgbClr val="1C2521"/>
                </a:solidFill>
                <a:latin typeface="Segoe UI"/>
              </a:defRPr>
            </a:pPr>
            <a:r>
              <a:t>Stories the package already delivers — run 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200" b="1" i="0">
                <a:solidFill>
                  <a:srgbClr val="14805E"/>
                </a:solidFill>
                <a:latin typeface="Segoe UI"/>
              </a:defRPr>
            </a:pPr>
            <a:r>
              <a:t>ON-CALL SRE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C2521"/>
                </a:solidFill>
                <a:latin typeface="Segoe UI"/>
              </a:defRPr>
            </a:pPr>
            <a:r>
              <a:t>"As an on-call SRE, I want tool drift and agent loops to be contained and queued for review, so that they stop paging me."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5C6A63"/>
                </a:solidFill>
                <a:latin typeface="Segoe UI"/>
              </a:defRPr>
            </a:pPr>
            <a:r>
              <a:t>Shipped as: the heal ladder (LLM once, then deterministic) + loop detection + budgets + escalation signals.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200" b="1" i="0">
                <a:solidFill>
                  <a:srgbClr val="14805E"/>
                </a:solidFill>
                <a:latin typeface="Segoe UI"/>
              </a:defRPr>
            </a:pPr>
            <a:r>
              <a:t>COMPLIANCE OFFICER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C2521"/>
                </a:solidFill>
                <a:latin typeface="Segoe UI"/>
              </a:defRPr>
            </a:pPr>
            <a:r>
              <a:t>"As a compliance officer, I need every autonomous behavior change traceable to evidence and an accountable approver."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5C6A63"/>
                </a:solidFill>
                <a:latin typeface="Segoe UI"/>
              </a:defRPr>
            </a:pPr>
            <a:r>
              <a:t>Shipped as: the evidence gate — proposals, cited verdicts, human approvals as ledger assertions, gate.why() on demand.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800600"/>
            <a:ext cx="10881360" cy="1463040"/>
          </a:xfrm>
          <a:prstGeom prst="roundRect">
            <a:avLst>
              <a:gd name="adj" fmla="val 6000"/>
            </a:avLst>
          </a:prstGeom>
          <a:solidFill>
            <a:srgbClr val="F0F4F0"/>
          </a:solidFill>
          <a:ln w="12700">
            <a:solidFill>
              <a:srgbClr val="DC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200" b="1" i="0">
                <a:solidFill>
                  <a:srgbClr val="14805E"/>
                </a:solidFill>
                <a:latin typeface="Segoe UI"/>
              </a:defRPr>
            </a:pPr>
            <a:r>
              <a:t>ENGINEERING LEADER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1C2521"/>
                </a:solidFill>
                <a:latin typeface="Segoe UI"/>
              </a:defRPr>
            </a:pPr>
            <a:r>
              <a:t>"As an engineering leader, I want proof the agent program gets MORE reliable with volume — or I cut it at renewal."</a:t>
            </a:r>
          </a:p>
          <a:p>
            <a:pPr algn="l">
              <a:spcAft>
                <a:spcPts val="400"/>
              </a:spcAft>
              <a:defRPr sz="1200" b="0" i="0">
                <a:solidFill>
                  <a:srgbClr val="5C6A63"/>
                </a:solidFill>
                <a:latin typeface="Segoe UI"/>
              </a:defRPr>
            </a:pPr>
            <a:r>
              <a:t>Shipped as: outcome_stats() and trust surfaces over the immutable ledger; the topology map for the exec walkthrough. (The full ROI value ledger is Phase 4 — next.)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14805E"/>
                </a:solidFill>
                <a:latin typeface="Consolas"/>
              </a:defRPr>
            </a:pPr>
            <a:r>
              <a:t>THE COMPARISON, IN ONE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 i="0">
                <a:solidFill>
                  <a:srgbClr val="1C2521"/>
                </a:solidFill>
                <a:latin typeface="Segoe UI"/>
              </a:defRPr>
            </a:pPr>
            <a:r>
              <a:t>As-is vs graxella-equipped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10881360" cy="4352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023360"/>
                <a:gridCol w="4023360"/>
              </a:tblGrid>
              <a:tr h="384048">
                <a:tc>
                  <a:txBody>
                    <a:bodyPr wrap="square"/>
                    <a:lstStyle/>
                    <a:p>
                      <a:pPr>
                        <a:defRPr sz="105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SITUATION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AS-IS (FRAMEWORK ALONE)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050" b="1" i="0">
                          <a:solidFill>
                            <a:srgbClr val="14805E"/>
                          </a:solidFill>
                          <a:latin typeface="Consolas"/>
                        </a:defRPr>
                      </a:pPr>
                      <a:r>
                        <a:t>GRAXELLA-EQUIPPED</a:t>
                      </a:r>
                    </a:p>
                  </a:txBody>
                  <a:tcPr marL="82296" marR="82296" marT="36576" marB="36576" anchor="ctr">
                    <a:solidFill>
                      <a:srgbClr val="E2EFE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Tool schema drifts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Fails until a human ships a fix, or pays an LLM on every call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Heal once → gated transform; zero-LLM ever after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Agent repeats a solved mistake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Every session starts from zero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Verified cases recalled into context, cited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Two agents loop / chain runs away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Token burn until timeout or invoice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Loop detected at first repeat; budgets escalate loudly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Behavior needs to change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Prompt edit on a Friday; no trail, no rollback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Proposal → evidence → gate → human when cold → versioned promotion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"Why did it do that?"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Grep logs, interview the team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gate.why(), decision+outcome ledger, topology map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50 agents in one mesh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Every card in every prompt — waiting tokens forever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Progressive disclosure L0→L3; deterministic pre-routing</a:t>
                      </a:r>
                    </a:p>
                  </a:txBody>
                  <a:tcPr marL="82296" marR="82296" marT="36576" marB="36576" anchor="ctr">
                    <a:solidFill>
                      <a:srgbClr val="F0F4F0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>
                        <a:defRPr sz="1150" b="1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Model gets swapped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Learnings lost or silently wrong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50" b="0" i="0">
                          <a:solidFill>
                            <a:srgbClr val="1C2521"/>
                          </a:solidFill>
                          <a:latin typeface="Segoe UI"/>
                        </a:defRPr>
                      </a:pPr>
                      <a:r>
                        <a:t>Evidence scoped per model_id; substrate unchanged</a:t>
                      </a:r>
                    </a:p>
                  </a:txBody>
                  <a:tcPr marL="82296" marR="82296" marT="36576" marB="36576" anchor="ctr">
                    <a:solidFill>
                      <a:srgbClr val="FAFB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5C6A63"/>
                </a:solidFill>
                <a:latin typeface="Consolas"/>
              </a:defRPr>
            </a:pPr>
            <a:r>
              <a:t>GRAXELLA · CAPABILITIES IN ACTION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 i="0">
                <a:solidFill>
                  <a:srgbClr val="43C495"/>
                </a:solidFill>
                <a:latin typeface="Consolas"/>
              </a:defRPr>
            </a:pPr>
            <a:r>
              <a:t>WHERE THE PACKAGE STANDS · 2026-08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 i="0">
                <a:solidFill>
                  <a:srgbClr val="FFFFFF"/>
                </a:solidFill>
                <a:latin typeface="Segoe UI"/>
              </a:defRPr>
            </a:pPr>
            <a:r>
              <a:t>Measured, tested, honest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26322B"/>
          </a:solidFill>
          <a:ln w="12700">
            <a:solidFill>
              <a:srgbClr val="3A4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300" b="1" i="0">
                <a:solidFill>
                  <a:srgbClr val="43C495"/>
                </a:solidFill>
                <a:latin typeface="Segoe UI"/>
              </a:defRPr>
            </a:pPr>
            <a:r>
              <a:t>354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tests green across 4 packages (graxella 125 · mnema 105 · agent2society 112 · axon-fabric 12)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26322B"/>
          </a:solidFill>
          <a:ln w="12700">
            <a:solidFill>
              <a:srgbClr val="3A4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300" b="1" i="0">
                <a:solidFill>
                  <a:srgbClr val="43C495"/>
                </a:solidFill>
                <a:latin typeface="Segoe UI"/>
              </a:defRPr>
            </a:pPr>
            <a:r>
              <a:t>33.5 ms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route p50 at 1,000 agents (down from 1,174 ms); mesh build 0.1 s at 1,000 (down from 51 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26322B"/>
          </a:solidFill>
          <a:ln w="12700">
            <a:solidFill>
              <a:srgbClr val="3A4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300" b="1" i="0">
                <a:solidFill>
                  <a:srgbClr val="43C495"/>
                </a:solidFill>
                <a:latin typeface="Segoe UI"/>
              </a:defRPr>
            </a:pPr>
            <a:r>
              <a:t>8 / 14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MAST failure modes covered (+3 partial, +2 designed) — tracked openly, replay-tested, never claimed as live prevention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291840"/>
            <a:ext cx="5349240" cy="1417320"/>
          </a:xfrm>
          <a:prstGeom prst="roundRect">
            <a:avLst>
              <a:gd name="adj" fmla="val 6000"/>
            </a:avLst>
          </a:prstGeom>
          <a:solidFill>
            <a:srgbClr val="26322B"/>
          </a:solidFill>
          <a:ln w="12700">
            <a:solidFill>
              <a:srgbClr val="3A49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89611" bIns="89611"/>
          <a:lstStyle/>
          <a:p>
            <a:pPr algn="l">
              <a:spcAft>
                <a:spcPts val="400"/>
              </a:spcAft>
              <a:defRPr sz="1300" b="1" i="0">
                <a:solidFill>
                  <a:srgbClr val="43C495"/>
                </a:solidFill>
                <a:latin typeface="Segoe UI"/>
              </a:defRPr>
            </a:pPr>
            <a:r>
              <a:t>1</a:t>
            </a:r>
          </a:p>
          <a:p>
            <a:pPr algn="l">
              <a:spcAft>
                <a:spcPts val="400"/>
              </a:spcAft>
              <a:defRPr sz="1300" b="0" i="0">
                <a:solidFill>
                  <a:srgbClr val="FFFFFF"/>
                </a:solidFill>
                <a:latin typeface="Segoe UI"/>
              </a:defRPr>
            </a:pPr>
            <a:r>
              <a:t>LLM healer invocation, total, across two real drift events in the qwen2.5:3b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749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 i="0">
                <a:solidFill>
                  <a:srgbClr val="43C495"/>
                </a:solidFill>
                <a:latin typeface="Segoe UI"/>
              </a:defRPr>
            </a:pPr>
            <a:r>
              <a:t>Fail once. Learn forever.</a:t>
            </a:r>
          </a:p>
          <a:p>
            <a:pPr>
              <a:defRPr sz="1400" b="0" i="0">
                <a:solidFill>
                  <a:srgbClr val="C9D4CE"/>
                </a:solidFill>
                <a:latin typeface="Segoe UI"/>
              </a:defRPr>
            </a:pPr>
            <a:r>
              <a:t>Next: Phase 4, the Value Ledger — ROI queries, the reliability-slope dashboard, and the compliance pack that turns this evidence into the pilot report a VP reads.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 i="0">
                <a:solidFill>
                  <a:srgbClr val="7E8D85"/>
                </a:solidFill>
                <a:latin typeface="Consolas"/>
              </a:defRPr>
            </a:pPr>
            <a:r>
              <a:t>GRAXELLA · CAPABILITIES IN ACTION · EVERY CLAIM TRACES TO A TEST OR A MEASURED 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