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338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Calibri"/>
              </a:defRPr>
            </a:pPr>
            <a:r>
              <a:t>Graxella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6A500"/>
                </a:solidFill>
                <a:latin typeface="Calibri"/>
              </a:defRPr>
            </a:pPr>
            <a:r>
              <a:t>Graph-Native Agent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E8ECF2"/>
                </a:solidFill>
                <a:latin typeface="Calibri"/>
              </a:defRPr>
            </a:pPr>
            <a:r>
              <a:t>Compile-time intelligence. Detection-only governance. Audit-first observability.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8ECF2"/>
                </a:solidFill>
                <a:latin typeface="Calibri"/>
              </a:defRPr>
            </a:pPr>
            <a:r>
              <a:t>Executive Summary  ·  v0.1  ·  Phases 1–7 shipped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we set out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6A500"/>
                </a:solidFill>
                <a:latin typeface="Calibri"/>
              </a:defRPr>
            </a:pPr>
            <a:r>
              <a:t>Every LLM agent breaks the same way, for the same reasons.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Silent tool drift.  </a:t>
            </a:r>
            <a:r>
              <a:rPr sz="1600">
                <a:solidFill>
                  <a:srgbClr val="FFFFFF"/>
                </a:solidFill>
                <a:latin typeface="Calibri"/>
              </a:rPr>
              <a:t>An API version changes; the agent's tool binding is stale; the LLM keeps calling the old endpoint until users complain.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No cited memory.  </a:t>
            </a:r>
            <a:r>
              <a:rPr sz="1600">
                <a:solidFill>
                  <a:srgbClr val="FFFFFF"/>
                </a:solidFill>
                <a:latin typeface="Calibri"/>
              </a:rPr>
              <a:t>The agent has no way to say 'I did X because we learned Y last week.' Every decision is unmoored from evidence.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LLM at runtime for governance.  </a:t>
            </a:r>
            <a:r>
              <a:rPr sz="1600">
                <a:solidFill>
                  <a:srgbClr val="FFFFFF"/>
                </a:solidFill>
                <a:latin typeface="Calibri"/>
              </a:rPr>
              <a:t>Teams bolt a second LLM in front to 'check' the first — cost doubles, latency spikes, and the checker itself drifts.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No audit trail regulators trust.  </a:t>
            </a:r>
            <a:r>
              <a:rPr sz="1600">
                <a:solidFill>
                  <a:srgbClr val="FFFFFF"/>
                </a:solidFill>
                <a:latin typeface="Calibri"/>
              </a:rPr>
              <a:t>For the EU AI Act, SOC-2, or an internal incident review, 'the LLM decided' is not an acceptable answer.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Agents don't learn from lived experience.  </a:t>
            </a:r>
            <a:r>
              <a:rPr sz="1600">
                <a:solidFill>
                  <a:srgbClr val="FFFFFF"/>
                </a:solidFill>
                <a:latin typeface="Calibri"/>
              </a:rPr>
              <a:t>Failures repeat. What worked yesterday isn't remembered as a rule; it lives in a slack thread.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Graxella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6A500"/>
                </a:solidFill>
                <a:latin typeface="Calibri"/>
              </a:defRPr>
            </a:pPr>
            <a:r>
              <a:t>A thin, graph-native layer that makes the fixes cheap AND cited.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Compile-time &gt; runtime.  </a:t>
            </a:r>
            <a:r>
              <a:rPr sz="1600">
                <a:solidFill>
                  <a:srgbClr val="FFFFFF"/>
                </a:solidFill>
                <a:latin typeface="Calibri"/>
              </a:rPr>
              <a:t>Rules are promoted by humans and evaluated deterministically at dispatch. No runtime LLM for routing decisions.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Detection-only governance.  </a:t>
            </a:r>
            <a:r>
              <a:rPr sz="1600">
                <a:solidFill>
                  <a:srgbClr val="FFFFFF"/>
                </a:solidFill>
                <a:latin typeface="Calibri"/>
              </a:rPr>
              <a:t>Graxella observes and cites; it doesn't quietly rewrite in production. Humans approve; the runtime obeys.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Audit-first.  </a:t>
            </a:r>
            <a:r>
              <a:rPr sz="1600">
                <a:solidFill>
                  <a:srgbClr val="FFFFFF"/>
                </a:solidFill>
                <a:latin typeface="Calibri"/>
              </a:rPr>
              <a:t>Every Episode, Proposal, Promotion, and Rule is a node in a PROV-O JSON-LD graph — regulator-ready by construction.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Intelligence BEFORE traffic.  </a:t>
            </a:r>
            <a:r>
              <a:rPr sz="1600">
                <a:solidFill>
                  <a:srgbClr val="FFFFFF"/>
                </a:solidFill>
                <a:latin typeface="Calibri"/>
              </a:rPr>
              <a:t>Docs already describe most drift. Mine them; propose rules; let a reviewer promote before the first user hits the failure.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Same LLM, same tools — one line to wrap.  </a:t>
            </a:r>
            <a:r>
              <a:rPr sz="1600">
                <a:solidFill>
                  <a:srgbClr val="FFFFFF"/>
                </a:solidFill>
                <a:latin typeface="Calibri"/>
              </a:rPr>
              <a:t>graxella.wrap(app, tools=..., store=..., rulebook=...) is the entire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built  —  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6A500"/>
                </a:solidFill>
                <a:latin typeface="Calibri"/>
              </a:defRPr>
            </a:pPr>
            <a:r>
              <a:t>Five surfaces, one integrated python package: `graxella/`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743200" cy="10058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wrap() / wrap_tools()</a:t>
            </a:r>
            <a:br/>
            <a:r>
              <a:t>langchain + LangGraph shim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737360"/>
            <a:ext cx="2743200" cy="10058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F3A"/>
                </a:solidFill>
                <a:latin typeface="Calibri"/>
              </a:defRPr>
            </a:pPr>
            <a:r>
              <a:t>heal.route()</a:t>
            </a:r>
            <a:br/>
            <a:r>
              <a:t>rulebook-aware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2743200" cy="10058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F3A"/>
                </a:solidFill>
                <a:latin typeface="Calibri"/>
              </a:defRPr>
            </a:pPr>
            <a:r>
              <a:t>GraxellaCallback</a:t>
            </a:r>
            <a:br/>
            <a:r>
              <a:t>Episode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737360"/>
            <a:ext cx="2194560" cy="10058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F3A"/>
                </a:solidFill>
                <a:latin typeface="Calibri"/>
              </a:defRPr>
            </a:pPr>
            <a:r>
              <a:t>MCP server</a:t>
            </a:r>
            <a:br/>
            <a:r>
              <a:t>review surface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1F3A"/>
                </a:solidFill>
                <a:latin typeface="Calibri"/>
              </a:defRPr>
            </a:pPr>
            <a:r>
              <a:t>Rulebook  (hot-reloadable JSON, atomic write, deterministic ids)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2608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F3A"/>
                </a:solidFill>
                <a:latin typeface="Calibri"/>
              </a:defRPr>
            </a:pPr>
            <a:r>
              <a:t>Hidden Agenda  (RuleDistiller · CapabilityReweigher · TrustPromoter · DocsMiner · DatalogMiner)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657600" cy="1005840"/>
          </a:xfrm>
          <a:prstGeom prst="roundRect">
            <a:avLst/>
          </a:prstGeom>
          <a:solidFill>
            <a:srgbClr val="E8ECF2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B1F3A"/>
                </a:solidFill>
                <a:latin typeface="Calibri"/>
              </a:defRPr>
            </a:pPr>
            <a:r>
              <a:t>SqliteExperienceStore</a:t>
            </a:r>
            <a:br/>
            <a:r>
              <a:t>durable Episode ledger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114800"/>
            <a:ext cx="3657600" cy="1005840"/>
          </a:xfrm>
          <a:prstGeom prst="roundRect">
            <a:avLst/>
          </a:prstGeom>
          <a:solidFill>
            <a:srgbClr val="E8ECF2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B1F3A"/>
                </a:solidFill>
                <a:latin typeface="Calibri"/>
              </a:defRPr>
            </a:pPr>
            <a:r>
              <a:t>KnowledgeSeed  +  from_docs()</a:t>
            </a:r>
            <a:br/>
            <a:r>
              <a:t>typed assertions from markdown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114800"/>
            <a:ext cx="3383280" cy="1005840"/>
          </a:xfrm>
          <a:prstGeom prst="roundRect">
            <a:avLst/>
          </a:prstGeom>
          <a:solidFill>
            <a:srgbClr val="E8ECF2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B1F3A"/>
                </a:solidFill>
                <a:latin typeface="Calibri"/>
              </a:defRPr>
            </a:pPr>
            <a:r>
              <a:t>PROV-O audit export</a:t>
            </a:r>
            <a:br/>
            <a:r>
              <a:t>JSON-LD graph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2743200"/>
            <a:ext cx="0" cy="182880"/>
          </a:xfrm>
          <a:prstGeom prst="bentConnector3">
            <a:avLst/>
          </a:prstGeom>
          <a:ln w="31750">
            <a:solidFill>
              <a:srgbClr val="F6A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2743200"/>
            <a:ext cx="0" cy="182880"/>
          </a:xfrm>
          <a:prstGeom prst="bentConnector3">
            <a:avLst/>
          </a:prstGeom>
          <a:ln w="31750">
            <a:solidFill>
              <a:srgbClr val="F6A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2743200"/>
            <a:ext cx="0" cy="182880"/>
          </a:xfrm>
          <a:prstGeom prst="bentConnector3">
            <a:avLst/>
          </a:prstGeom>
          <a:ln w="31750">
            <a:solidFill>
              <a:srgbClr val="F6A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377440" y="3931920"/>
            <a:ext cx="914400" cy="182880"/>
          </a:xfrm>
          <a:prstGeom prst="bentConnector3">
            <a:avLst/>
          </a:prstGeom>
          <a:ln w="31750">
            <a:solidFill>
              <a:srgbClr val="F6A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309360" y="3931920"/>
            <a:ext cx="2743200" cy="182880"/>
          </a:xfrm>
          <a:prstGeom prst="bentConnector3">
            <a:avLst/>
          </a:prstGeom>
          <a:ln w="31750">
            <a:solidFill>
              <a:srgbClr val="F6A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3931920"/>
            <a:ext cx="1051560" cy="182880"/>
          </a:xfrm>
          <a:prstGeom prst="bentConnector3">
            <a:avLst/>
          </a:prstGeom>
          <a:ln w="31750">
            <a:solidFill>
              <a:srgbClr val="F6A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539496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E8ECF2"/>
                </a:solidFill>
                <a:latin typeface="Calibri"/>
              </a:defRPr>
            </a:pPr>
            <a:r>
              <a:t>Nothing is auto-applied. Miners emit Proposals; a human promotes; the runtime consults the Rulebook. PROV-O covers every hop from evidence to approval to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components  —  what each file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graxella.experience / .persistence  </a:t>
            </a:r>
            <a:r>
              <a:rPr sz="1300">
                <a:solidFill>
                  <a:srgbClr val="FFFFFF"/>
                </a:solidFill>
                <a:latin typeface="Calibri"/>
              </a:rPr>
              <a:t>ExperienceEpisode dataclass · InMemory + SqliteExperienceStore. One Episode per node run, capturing tool_calls, latency, ok/err, decisions.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graxella.langgraph.callback  </a:t>
            </a:r>
            <a:r>
              <a:rPr sz="1300">
                <a:solidFill>
                  <a:srgbClr val="FFFFFF"/>
                </a:solidFill>
                <a:latin typeface="Calibri"/>
              </a:rPr>
              <a:t>GraxellaCallback — a plain BaseCallbackHandler; drops into any LangGraph or LangChain runnable via config={'callbacks':[…]}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graxella.langgraph.healing  </a:t>
            </a:r>
            <a:r>
              <a:rPr sz="1300">
                <a:solidFill>
                  <a:srgbClr val="FFFFFF"/>
                </a:solidFill>
                <a:latin typeface="Calibri"/>
              </a:rPr>
              <a:t>TransformRecipe (field_map · static_defaults · drop_fields), HealedTool, heal.route() — the rulebook-aware dispatch primitive.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graxella.rulebook  </a:t>
            </a:r>
            <a:r>
              <a:rPr sz="1300">
                <a:solidFill>
                  <a:srgbClr val="FFFFFF"/>
                </a:solidFill>
                <a:latin typeface="Calibri"/>
              </a:rPr>
              <a:t>JSON on disk, atomic write, hot-reload, deterministic proposal ids (sha256(kind|subject)) so audit refs stay closed across re-mines.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graxella.hidden_agenda  </a:t>
            </a:r>
            <a:r>
              <a:rPr sz="1300">
                <a:solidFill>
                  <a:srgbClr val="FFFFFF"/>
                </a:solidFill>
                <a:latin typeface="Calibri"/>
              </a:rPr>
              <a:t>5 miners: RuleDistiller · CapabilityReweigher · TrustPromoter · DocsMiner · DatalogMiner (Phase 7). All emit the same Proposal shape.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graxella.ingest  </a:t>
            </a:r>
            <a:r>
              <a:rPr sz="1300">
                <a:solidFill>
                  <a:srgbClr val="FFFFFF"/>
                </a:solidFill>
                <a:latin typeface="Calibri"/>
              </a:rPr>
              <a:t>from_docs() → KnowledgeSeed. Five regex extractors turn markdown into typed Assertions (deprecated_by, field_maps_to, has_intent, has_arg, described_as).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graxella.rules  (Phase 7)  </a:t>
            </a:r>
            <a:r>
              <a:rPr sz="1300">
                <a:solidFill>
                  <a:srgbClr val="FFFFFF"/>
                </a:solidFill>
                <a:latin typeface="Calibri"/>
              </a:rPr>
              <a:t>Minimal bottom-up Datalog engine (semi-naive fixpoint, safety-rule check) + facts bridge. Derives transitive substitutions from single-hop docs.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graxella.audit  </a:t>
            </a:r>
            <a:r>
              <a:rPr sz="1300">
                <a:solidFill>
                  <a:srgbClr val="FFFFFF"/>
                </a:solidFill>
                <a:latin typeface="Calibri"/>
              </a:rPr>
              <a:t>export() → W3C PROV-O JSON-LD. Every Episode/Miner/Proposal/Reviewer/Promotion/Rule is a graph node; cross-refs resolve.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graxella.mcp  </a:t>
            </a:r>
            <a:r>
              <a:rPr sz="1300">
                <a:solidFill>
                  <a:srgbClr val="FFFFFF"/>
                </a:solidFill>
                <a:latin typeface="Calibri"/>
              </a:rPr>
              <a:t>7 pure-Python handlers + optional stdio MCP server. Any MCP-aware client (Claude Desktop, Cursor) drives the review loop.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6A500"/>
                </a:solidFill>
                <a:latin typeface="Calibri"/>
              </a:rPr>
              <a:t>graxella.wrap  +  graxella.cli  </a:t>
            </a:r>
            <a:r>
              <a:rPr sz="1300">
                <a:solidFill>
                  <a:srgbClr val="FFFFFF"/>
                </a:solidFill>
                <a:latin typeface="Calibri"/>
              </a:rPr>
              <a:t>wrap()/wrap_tools() = the one-line integration. `graxella agenda run|review|promote|reject|rules|audit` = the terminal review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ADLC  —  Graxella at every stage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6A500"/>
                </a:solidFill>
                <a:latin typeface="Calibri"/>
              </a:defRPr>
            </a:pPr>
            <a:r>
              <a:t>Design → Build → Test  ·  intelligence before traffic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5486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F3A"/>
                </a:solidFill>
                <a:latin typeface="Calibri"/>
              </a:defRPr>
            </a:pPr>
            <a:r>
              <a:t>1.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•  Author API docs in markdown</a:t>
            </a:r>
            <a:br/>
            <a:r>
              <a:t>•  Deprecations expressed as prose or migration tables</a:t>
            </a:r>
            <a:br/>
            <a:r>
              <a:t>•  Intent labels (weather_lookup, notify_user…) declared</a:t>
            </a:r>
            <a:br/>
            <a:br/>
            <a:r>
              <a:t>Graxella action:</a:t>
            </a:r>
            <a:br/>
            <a:r>
              <a:t>•  ingest.from_docs() lifts typed Assertions from these docs</a:t>
            </a:r>
            <a:br/>
            <a:r>
              <a:t>•  Predicate vocabulary is small and stable — no NLP, no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657600" cy="5486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F3A"/>
                </a:solidFill>
                <a:latin typeface="Calibri"/>
              </a:defRPr>
            </a:pPr>
            <a:r>
              <a:t>2.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•  Wrap the LangGraph/LangChain app in one line:</a:t>
            </a:r>
            <a:br/>
            <a:r>
              <a:t>   graxella.wrap(app, tools=…, store=…,</a:t>
            </a:r>
            <a:br/>
            <a:r>
              <a:t>                 rulebook=…, docs=…)</a:t>
            </a:r>
            <a:br/>
            <a:br/>
            <a:r>
              <a:t>Graxella action:</a:t>
            </a:r>
            <a:br/>
            <a:r>
              <a:t>•  DocsMiner emits pre-traffic Proposals</a:t>
            </a:r>
            <a:br/>
            <a:r>
              <a:t>•  DatalogMiner derives multi-hop / transitive rules</a:t>
            </a:r>
            <a:br/>
            <a:r>
              <a:t>•  Reviewer promotes before first user hits the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657600" cy="5486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F3A"/>
                </a:solidFill>
                <a:latin typeface="Calibri"/>
              </a:defRPr>
            </a:pPr>
            <a:r>
              <a:t>3.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•  Run the wrapped app against a test store</a:t>
            </a:r>
            <a:br/>
            <a:r>
              <a:t>•  Assert Episode shape (tools=[…] shows the new path)</a:t>
            </a:r>
            <a:br/>
            <a:br/>
            <a:r>
              <a:t>Graxella action:</a:t>
            </a:r>
            <a:br/>
            <a:r>
              <a:t>•  Every test call becomes an Episode row</a:t>
            </a:r>
            <a:br/>
            <a:r>
              <a:t>•  PROV-O export gives a diff-able audit bundle</a:t>
            </a:r>
            <a:br/>
            <a:r>
              <a:t>•  heal.route() bypass is deterministic → no LLM flakiness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ADLC  —  Graxella at every stage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6A500"/>
                </a:solidFill>
                <a:latin typeface="Calibri"/>
              </a:defRPr>
            </a:pPr>
            <a:r>
              <a:t>Deploy → Operate → Learn  ·  drift closes the loop back to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5486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F3A"/>
                </a:solidFill>
                <a:latin typeface="Calibri"/>
              </a:defRPr>
            </a:pPr>
            <a:r>
              <a:t>4.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•  Ship the wrapped app + rulebook.json + store.db</a:t>
            </a:r>
            <a:br/>
            <a:r>
              <a:t>•  Rulebook is hot-reloadable — new promotions land</a:t>
            </a:r>
            <a:br/>
            <a:r>
              <a:t>   on the next dispatch, no restart</a:t>
            </a:r>
            <a:br/>
            <a:br/>
            <a:r>
              <a:t>Graxella action:</a:t>
            </a:r>
            <a:br/>
            <a:r>
              <a:t>•  Atomic write on promote (.tmp → replace)</a:t>
            </a:r>
            <a:br/>
            <a:r>
              <a:t>•  Sub-ms dispatch overhead: JSON lookup + field_map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657600" cy="5486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F3A"/>
                </a:solidFill>
                <a:latin typeface="Calibri"/>
              </a:defRPr>
            </a:pPr>
            <a:r>
              <a:t>5. OPERATE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•  Live traffic hits the wrapped app</a:t>
            </a:r>
            <a:br/>
            <a:r>
              <a:t>•  Reviewer opens MCP-connected Claude Desktop / Cursor</a:t>
            </a:r>
            <a:br/>
            <a:r>
              <a:t>   and drives list_proposals / promote / audit</a:t>
            </a:r>
            <a:br/>
            <a:br/>
            <a:r>
              <a:t>Graxella action:</a:t>
            </a:r>
            <a:br/>
            <a:r>
              <a:t>•  Each run → Episode → SqliteExperienceStore</a:t>
            </a:r>
            <a:br/>
            <a:r>
              <a:t>•  export_audit() emits PROV-O bundle on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657600" cy="54864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F3A"/>
                </a:solidFill>
                <a:latin typeface="Calibri"/>
              </a:defRPr>
            </a:pPr>
            <a:r>
              <a:t>6. 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•  Nightly HiddenAgendaRunner scans the store</a:t>
            </a:r>
            <a:br/>
            <a:r>
              <a:t>•  RuleDistiller finds (fail→success) pairs</a:t>
            </a:r>
            <a:br/>
            <a:r>
              <a:t>•  CapabilityReweigher / TrustPromoter refine routing</a:t>
            </a:r>
            <a:br/>
            <a:br/>
            <a:r>
              <a:t>Graxella action:</a:t>
            </a:r>
            <a:br/>
            <a:r>
              <a:t>•  New Proposals surface in the MCP review queue</a:t>
            </a:r>
            <a:br/>
            <a:r>
              <a:t>•  Loop feeds back to DESIGN — docs get updated to</a:t>
            </a:r>
            <a:br/>
            <a:r>
              <a:t>   match what the runtime already learned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proposition  —  for engineering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One-line integration.  </a:t>
            </a:r>
            <a:r>
              <a:rPr sz="1600">
                <a:solidFill>
                  <a:srgbClr val="FFFFFF"/>
                </a:solidFill>
                <a:latin typeface="Calibri"/>
              </a:rPr>
              <a:t>graxella.wrap(app, tools=..., store=..., rulebook=...) — no rewrite of node code, no framework switch.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No runtime LLM in the critical path.  </a:t>
            </a:r>
            <a:r>
              <a:rPr sz="1600">
                <a:solidFill>
                  <a:srgbClr val="FFFFFF"/>
                </a:solidFill>
                <a:latin typeface="Calibri"/>
              </a:rPr>
              <a:t>Routing is a rulebook lookup + field-map rename. Sub-millisecond, deterministic, replayable.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Cost predictability.  </a:t>
            </a:r>
            <a:r>
              <a:rPr sz="1600">
                <a:solidFill>
                  <a:srgbClr val="FFFFFF"/>
                </a:solidFill>
                <a:latin typeface="Calibri"/>
              </a:rPr>
              <a:t>Every OSS-model demo in this build runs locally on Ollama (qwen2.5:3b, 2GB). Cloud LLM spend is opt-in, not baseline.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Framework-friendly.  </a:t>
            </a:r>
            <a:r>
              <a:rPr sz="1600">
                <a:solidFill>
                  <a:srgbClr val="FFFFFF"/>
                </a:solidFill>
                <a:latin typeface="Calibri"/>
              </a:rPr>
              <a:t>Works with LangChain, LangGraph today; CrewAI + AutoGen adapters queued (Phase 8). Bring-your-own transport.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Small surface, verifiable code.  </a:t>
            </a:r>
            <a:r>
              <a:rPr sz="1600">
                <a:solidFill>
                  <a:srgbClr val="FFFFFF"/>
                </a:solidFill>
                <a:latin typeface="Calibri"/>
              </a:rPr>
              <a:t>Whole runtime is &lt; 3000 LOC of pure python, zero heavy deps. Datalog engine is ~200 LOC and unit-testable.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Failure isolation.  </a:t>
            </a:r>
            <a:r>
              <a:rPr sz="1600">
                <a:solidFill>
                  <a:srgbClr val="FFFFFF"/>
                </a:solidFill>
                <a:latin typeface="Calibri"/>
              </a:rPr>
              <a:t>A stale tool binding is a rule promotion, not a hotfix release. Blast radius = one JSON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proposition  —  for governance, risk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Detection-only by design.  </a:t>
            </a:r>
            <a:r>
              <a:rPr sz="1600">
                <a:solidFill>
                  <a:srgbClr val="FFFFFF"/>
                </a:solidFill>
                <a:latin typeface="Calibri"/>
              </a:rPr>
              <a:t>Graxella never auto-applies. Every rule change carries a human signature (approved_by) with a timestamp.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EU AI Act, SOC-2 ready.  </a:t>
            </a:r>
            <a:r>
              <a:rPr sz="1600">
                <a:solidFill>
                  <a:srgbClr val="FFFFFF"/>
                </a:solidFill>
                <a:latin typeface="Calibri"/>
              </a:rPr>
              <a:t>PROV-O JSON-LD audit graph covers Entity/Activity/Agent — the same shape auditors already know from W3C PROV.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Complete evidence chain.  </a:t>
            </a:r>
            <a:r>
              <a:rPr sz="1600">
                <a:solidFill>
                  <a:srgbClr val="FFFFFF"/>
                </a:solidFill>
                <a:latin typeface="Calibri"/>
              </a:rPr>
              <a:t>Every ApprovedRule cites derived_from — either Episode ids (lived) or doc source_uris (documented) — resolvable to the exact line.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Reproducibility guaranteed.  </a:t>
            </a:r>
            <a:r>
              <a:rPr sz="1600">
                <a:solidFill>
                  <a:srgbClr val="FFFFFF"/>
                </a:solidFill>
                <a:latin typeface="Calibri"/>
              </a:rPr>
              <a:t>Proposal ids are deterministic (sha256(kind|subject)). Re-mining the same store yields the same ids — audits don't dangle.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Human-in-the-loop is the default.  </a:t>
            </a:r>
            <a:r>
              <a:rPr sz="1600">
                <a:solidFill>
                  <a:srgbClr val="FFFFFF"/>
                </a:solidFill>
                <a:latin typeface="Calibri"/>
              </a:rPr>
              <a:t>The runtime reads the Rulebook; the Rulebook only grows via .promote(). No back-channel.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Reversible.  </a:t>
            </a:r>
            <a:r>
              <a:rPr sz="1600">
                <a:solidFill>
                  <a:srgbClr val="FFFFFF"/>
                </a:solidFill>
                <a:latin typeface="Calibri"/>
              </a:rPr>
              <a:t>Rules can be rejected; the audit records both the promotion AND the rejection. Full history is on disk, diff-able.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proposition  —  for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Faster mean-time-to-recovery on tool drift.  </a:t>
            </a:r>
            <a:r>
              <a:rPr sz="1600">
                <a:solidFill>
                  <a:srgbClr val="FFFFFF"/>
                </a:solidFill>
                <a:latin typeface="Calibri"/>
              </a:rPr>
              <a:t>Documented deprecation → mined proposal → human promotion → live bypass. Minutes, not a hotfix cycle.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Institutional memory that survives team turnover.  </a:t>
            </a:r>
            <a:r>
              <a:rPr sz="1600">
                <a:solidFill>
                  <a:srgbClr val="FFFFFF"/>
                </a:solidFill>
                <a:latin typeface="Calibri"/>
              </a:rPr>
              <a:t>Every 'we learned last quarter that X' becomes a cited rule the next engineer inherits by default.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Vendor &amp; model portability.  </a:t>
            </a:r>
            <a:r>
              <a:rPr sz="1600">
                <a:solidFill>
                  <a:srgbClr val="FFFFFF"/>
                </a:solidFill>
                <a:latin typeface="Calibri"/>
              </a:rPr>
              <a:t>The rulebook is model-agnostic. Swap qwen2.5:3b for GPT-4o or Claude Sonnet without touching a rule.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Lower LLM bill.  </a:t>
            </a:r>
            <a:r>
              <a:rPr sz="1600">
                <a:solidFill>
                  <a:srgbClr val="FFFFFF"/>
                </a:solidFill>
                <a:latin typeface="Calibri"/>
              </a:rPr>
              <a:t>Compile-time decisions displace runtime LLM calls that would otherwise be inside every request path.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Regulator-ready without a bolt-on.  </a:t>
            </a:r>
            <a:r>
              <a:rPr sz="1600">
                <a:solidFill>
                  <a:srgbClr val="FFFFFF"/>
                </a:solidFill>
                <a:latin typeface="Calibri"/>
              </a:rPr>
              <a:t>Audit isn't an integration; it's how Graxella stores state to begin with.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6A500"/>
                </a:solidFill>
                <a:latin typeface="Calibri"/>
              </a:rPr>
              <a:t>Foundation for the AXON program.  </a:t>
            </a:r>
            <a:r>
              <a:rPr sz="1600">
                <a:solidFill>
                  <a:srgbClr val="FFFFFF"/>
                </a:solidFill>
                <a:latin typeface="Calibri"/>
              </a:rPr>
              <a:t>Same primitives will host B8 (semantic tool discovery), B10 (payload healing), B11 (A2A routing), B12 (memory).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 are  &amp; 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1  ·  Experience + Store + Callback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59" y="1645920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2  ·  axon_runtime intercept adapter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2194560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3  ·  Rulebook + heal.route + PROV-O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743200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39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4  ·  from_docs + DocsMiner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291839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5  ·  wrap() + router 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3840480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6  ·  MCP handlers + stdio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4389120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59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7  ·  Datalog engine + DatalogMiner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4937759"/>
            <a:ext cx="1463040" cy="45720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36576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   Phase 8  ·  CrewAI + AutoGen adapters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5486400"/>
            <a:ext cx="1463040" cy="457200"/>
          </a:xfrm>
          <a:prstGeom prst="roundRect">
            <a:avLst/>
          </a:prstGeom>
          <a:solidFill>
            <a:srgbClr val="F6A500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64592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Latest ship: Phase 7  (Datalog rule backend)</a:t>
            </a:r>
            <a:br/>
            <a:br/>
            <a:r>
              <a:t>•  200-LOC bottom-up Datalog engine (safe rules, semi-naive)</a:t>
            </a:r>
            <a:br/>
            <a:r>
              <a:t>•  Derives transitive substitutions single-hop docs miss</a:t>
            </a:r>
            <a:br/>
            <a:r>
              <a:t>•  Composes field_maps along multi-hop chains automatically</a:t>
            </a:r>
            <a:br/>
            <a:r>
              <a:t>•  Verified end-to-end against real OSS LLM</a:t>
            </a:r>
            <a:br/>
            <a:r>
              <a:t>   (Ollama qwen2.5:3b, ~2GB, runs local)</a:t>
            </a:r>
            <a:br/>
            <a:br/>
            <a:r>
              <a:t>Demo proved: LLM bound only to the deprecated get_weather,</a:t>
            </a:r>
            <a:br/>
            <a:r>
              <a:t>Graxella transparently reroutes to fetch_forecast_v3 with</a:t>
            </a:r>
            <a:br/>
            <a:r>
              <a:t>city→location rename — LLM never sees the failure.</a:t>
            </a:r>
            <a:br/>
            <a:br/>
            <a:r>
              <a:t>Next: adapters for CrewAI + AutoGen, then hardening (Phase 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70"/>
                </a:solidFill>
                <a:latin typeface="Calibri"/>
              </a:defRPr>
            </a:pPr>
            <a:r>
              <a:t>Graxella  ·  Graph-Native Agent Intelligence  ·  12/12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6A500"/>
                </a:solidFill>
                <a:latin typeface="Calibri"/>
              </a:rPr>
              <a:t>One line to wrap.</a:t>
            </a:r>
            <a:r>
              <a:rPr sz="2000">
                <a:solidFill>
                  <a:srgbClr val="FFFFFF"/>
                </a:solidFill>
                <a:latin typeface="Calibri"/>
              </a:rPr>
              <a:t>  Every agent call becomes cited, auditable, replayable.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F6A500"/>
                </a:solidFill>
                <a:latin typeface="Calibri"/>
              </a:rPr>
              <a:t>Zero runtime LLM for routing.</a:t>
            </a:r>
            <a:r>
              <a:rPr sz="2000">
                <a:solidFill>
                  <a:srgbClr val="FFFFFF"/>
                </a:solidFill>
                <a:latin typeface="Calibri"/>
              </a:rPr>
              <a:t>  Compile-time rules, human-approved, sub-ms dispatch.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F6A500"/>
                </a:solidFill>
                <a:latin typeface="Calibri"/>
              </a:rPr>
              <a:t>Regulator-ready from day one.</a:t>
            </a:r>
            <a:r>
              <a:rPr sz="2000">
                <a:solidFill>
                  <a:srgbClr val="FFFFFF"/>
                </a:solidFill>
                <a:latin typeface="Calibri"/>
              </a:rPr>
              <a:t>  PROV-O is the storage format, not a report generator.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F6A500"/>
                </a:solidFill>
                <a:latin typeface="Calibri"/>
              </a:rPr>
              <a:t>Foundation for AXON  —  the Kubernetes for AI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8ECF2"/>
                </a:solidFill>
                <a:latin typeface="Calibri"/>
              </a:defRPr>
            </a:pPr>
            <a:r>
              <a:t>Contact:  ram@graxella  ·  ramprasad.vce@gmail.com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