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 i="0">
                <a:solidFill>
                  <a:srgbClr val="43C495"/>
                </a:solidFill>
                <a:latin typeface="Consolas"/>
              </a:defRPr>
            </a:pPr>
            <a:r>
              <a:t>GRAXELLA · FLAGSHIP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t>The Evidence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 i="0">
                <a:solidFill>
                  <a:srgbClr val="C9D4CE"/>
                </a:solidFill>
                <a:latin typeface="Segoe UI"/>
              </a:defRPr>
            </a:pPr>
            <a:r>
              <a:t>Reliable AI agents at enterprise scale — the runtime where reliability compounds with volume, and every behavior change ships with citations.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 i="0">
                <a:solidFill>
                  <a:srgbClr val="7E8D85"/>
                </a:solidFill>
                <a:latin typeface="Consolas"/>
              </a:defRPr>
            </a:pPr>
            <a:r>
              <a:t>DRAFT v1  ·  2026-08  ·  GRAXELLA + MNEMA + AGENT2SOCIETY + AXON + BROWNBRILLION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i="0">
                <a:solidFill>
                  <a:srgbClr val="14805E"/>
                </a:solidFill>
                <a:latin typeface="Consolas"/>
              </a:defRPr>
            </a:pPr>
            <a:r>
              <a:t>THE PROBLEM · 1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 i="0">
                <a:solidFill>
                  <a:srgbClr val="1C2521"/>
                </a:solidFill>
                <a:latin typeface="Segoe UI"/>
              </a:defRPr>
            </a:pPr>
            <a:r>
              <a:t>Pilot purgatory: the math kills demos in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C6A63"/>
                </a:solidFill>
                <a:latin typeface="Segoe UI"/>
              </a:defRPr>
            </a:pPr>
            <a:r>
              <a:t>Agent chains multiply per-step error. The demo is one step; the business process is ten.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F0F4F0"/>
          </a:solidFill>
          <a:ln w="12700">
            <a:solidFill>
              <a:srgbClr val="DC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0" i="0">
                <a:solidFill>
                  <a:srgbClr val="5C6A63"/>
                </a:solidFill>
                <a:latin typeface="Consolas"/>
              </a:defRPr>
            </a:pPr>
            <a:r>
              <a:t>99% per-step</a:t>
            </a:r>
          </a:p>
          <a:p>
            <a:pPr algn="ctr">
              <a:defRPr sz="3400" b="1" i="0">
                <a:solidFill>
                  <a:srgbClr val="1C2521"/>
                </a:solidFill>
                <a:latin typeface="Segoe UI"/>
              </a:defRPr>
            </a:pPr>
            <a:r>
              <a:t>≈ 90%</a:t>
            </a:r>
          </a:p>
          <a:p>
            <a:pPr algn="ctr">
              <a:defRPr sz="1200" b="0" i="0">
                <a:solidFill>
                  <a:srgbClr val="5C6A63"/>
                </a:solidFill>
                <a:latin typeface="Segoe UI"/>
              </a:defRPr>
            </a:pPr>
            <a:r>
              <a:t>over a 10-step chain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6596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F0F4F0"/>
          </a:solidFill>
          <a:ln w="12700">
            <a:solidFill>
              <a:srgbClr val="DC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0" i="0">
                <a:solidFill>
                  <a:srgbClr val="5C6A63"/>
                </a:solidFill>
                <a:latin typeface="Consolas"/>
              </a:defRPr>
            </a:pPr>
            <a:r>
              <a:t>95% per-step</a:t>
            </a:r>
          </a:p>
          <a:p>
            <a:pPr algn="ctr">
              <a:defRPr sz="3400" b="1" i="0">
                <a:solidFill>
                  <a:srgbClr val="A9432E"/>
                </a:solidFill>
                <a:latin typeface="Segoe UI"/>
              </a:defRPr>
            </a:pPr>
            <a:r>
              <a:t>≈ 60%</a:t>
            </a:r>
          </a:p>
          <a:p>
            <a:pPr algn="ctr">
              <a:defRPr sz="1200" b="0" i="0">
                <a:solidFill>
                  <a:srgbClr val="5C6A63"/>
                </a:solidFill>
                <a:latin typeface="Segoe UI"/>
              </a:defRPr>
            </a:pPr>
            <a:r>
              <a:t>over a 10-step chain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59" y="196596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F0F4F0"/>
          </a:solidFill>
          <a:ln w="12700">
            <a:solidFill>
              <a:srgbClr val="DC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0" i="0">
                <a:solidFill>
                  <a:srgbClr val="5C6A63"/>
                </a:solidFill>
                <a:latin typeface="Consolas"/>
              </a:defRPr>
            </a:pPr>
            <a:r>
              <a:t>90% per-step</a:t>
            </a:r>
          </a:p>
          <a:p>
            <a:pPr algn="ctr">
              <a:defRPr sz="3400" b="1" i="0">
                <a:solidFill>
                  <a:srgbClr val="A9432E"/>
                </a:solidFill>
                <a:latin typeface="Segoe UI"/>
              </a:defRPr>
            </a:pPr>
            <a:r>
              <a:t>≈ 35%</a:t>
            </a:r>
          </a:p>
          <a:p>
            <a:pPr algn="ctr">
              <a:defRPr sz="1200" b="0" i="0">
                <a:solidFill>
                  <a:srgbClr val="5C6A63"/>
                </a:solidFill>
                <a:latin typeface="Segoe UI"/>
              </a:defRPr>
            </a:pPr>
            <a:r>
              <a:t>over a 10-step chain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400">
                <a:solidFill>
                  <a:srgbClr val="14805E"/>
                </a:solidFill>
                <a:latin typeface="Segoe UI"/>
              </a:rPr>
              <a:t>The demo works — </a:t>
            </a:r>
            <a:r>
              <a:rPr sz="1400">
                <a:solidFill>
                  <a:srgbClr val="1C2521"/>
                </a:solidFill>
                <a:latin typeface="Segoe UI"/>
              </a:rPr>
              <a:t>one agent, three steps, a friendly input. The production workflow is ten steps across systems that drift weekly.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4805E"/>
                </a:solidFill>
                <a:latin typeface="Segoe UI"/>
              </a:rPr>
              <a:t>Nothing improves with usage — </a:t>
            </a:r>
            <a:r>
              <a:rPr sz="1400">
                <a:solidFill>
                  <a:srgbClr val="1C2521"/>
                </a:solidFill>
                <a:latin typeface="Segoe UI"/>
              </a:rPr>
              <a:t>today's stacks have no mechanism that turns volume into reliability. Month six is exactly as fragile as week one.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4805E"/>
                </a:solidFill>
                <a:latin typeface="Segoe UI"/>
              </a:rPr>
              <a:t>So programs stall at pilot — </a:t>
            </a:r>
            <a:r>
              <a:rPr sz="1400">
                <a:solidFill>
                  <a:srgbClr val="1C2521"/>
                </a:solidFill>
                <a:latin typeface="Segoe UI"/>
              </a:rPr>
              <a:t>the industry's answer — retry with a smarter prompt — raises cost, not the curve.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 i="0">
                <a:solidFill>
                  <a:srgbClr val="5C6A63"/>
                </a:solidFill>
                <a:latin typeface="Consolas"/>
              </a:defRPr>
            </a:pPr>
            <a:r>
              <a:t>GRAXELLA · THE EVIDENCE LOOP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i="0">
                <a:solidFill>
                  <a:srgbClr val="14805E"/>
                </a:solidFill>
                <a:latin typeface="Consolas"/>
              </a:defRPr>
            </a:pPr>
            <a:r>
              <a:t>THE PROBLEM · 2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 i="0">
                <a:solidFill>
                  <a:srgbClr val="1C2521"/>
                </a:solidFill>
                <a:latin typeface="Segoe UI"/>
              </a:defRPr>
            </a:pPr>
            <a:r>
              <a:t>Value is invisible — so budgets die at renewal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C6A63"/>
                </a:solidFill>
                <a:latin typeface="Segoe UI"/>
              </a:defRPr>
            </a:pPr>
            <a:r>
              <a:t>Four compounding blockers keep enterprises from seeing (or proving) any return on agent programs.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349240" cy="1920240"/>
          </a:xfrm>
          <a:prstGeom prst="roundRect">
            <a:avLst>
              <a:gd name="adj" fmla="val 6000"/>
            </a:avLst>
          </a:prstGeom>
          <a:solidFill>
            <a:srgbClr val="F0F4F0"/>
          </a:solidFill>
          <a:ln w="12700">
            <a:solidFill>
              <a:srgbClr val="DC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600"/>
              </a:spcAft>
              <a:defRPr sz="1300" b="1" i="0">
                <a:solidFill>
                  <a:srgbClr val="A8691C"/>
                </a:solidFill>
                <a:latin typeface="Consolas"/>
              </a:defRPr>
            </a:pPr>
            <a:r>
              <a:t>INVISIBLE ROI</a:t>
            </a:r>
          </a:p>
          <a:p>
            <a:pPr>
              <a:defRPr sz="1350" b="0" i="0">
                <a:solidFill>
                  <a:srgbClr val="1C2521"/>
                </a:solidFill>
                <a:latin typeface="Segoe UI"/>
              </a:defRPr>
            </a:pPr>
            <a:r>
              <a:t>Cost per completed task is opaque. Retries burn tokens silently. Nobody can show the CFO a curve moving the right way.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920240"/>
            <a:ext cx="5349240" cy="1920240"/>
          </a:xfrm>
          <a:prstGeom prst="roundRect">
            <a:avLst>
              <a:gd name="adj" fmla="val 6000"/>
            </a:avLst>
          </a:prstGeom>
          <a:solidFill>
            <a:srgbClr val="F0F4F0"/>
          </a:solidFill>
          <a:ln w="12700">
            <a:solidFill>
              <a:srgbClr val="DC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600"/>
              </a:spcAft>
              <a:defRPr sz="1300" b="1" i="0">
                <a:solidFill>
                  <a:srgbClr val="A8691C"/>
                </a:solidFill>
                <a:latin typeface="Consolas"/>
              </a:defRPr>
            </a:pPr>
            <a:r>
              <a:t>THE AUDIT WALL</a:t>
            </a:r>
          </a:p>
          <a:p>
            <a:pPr>
              <a:defRPr sz="1350" b="0" i="0">
                <a:solidFill>
                  <a:srgbClr val="1C2521"/>
                </a:solidFill>
                <a:latin typeface="Segoe UI"/>
              </a:defRPr>
            </a:pPr>
            <a:r>
              <a:t>EU AI Act, model risk management, SOX change control. “The LLM decided” is not an answer a regulator accepts.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069080"/>
            <a:ext cx="5349240" cy="1920240"/>
          </a:xfrm>
          <a:prstGeom prst="roundRect">
            <a:avLst>
              <a:gd name="adj" fmla="val 6000"/>
            </a:avLst>
          </a:prstGeom>
          <a:solidFill>
            <a:srgbClr val="F0F4F0"/>
          </a:solidFill>
          <a:ln w="12700">
            <a:solidFill>
              <a:srgbClr val="DC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600"/>
              </a:spcAft>
              <a:defRPr sz="1300" b="1" i="0">
                <a:solidFill>
                  <a:srgbClr val="A8691C"/>
                </a:solidFill>
                <a:latin typeface="Consolas"/>
              </a:defRPr>
            </a:pPr>
            <a:r>
              <a:t>OPS DON'T COMPOUND</a:t>
            </a:r>
          </a:p>
          <a:p>
            <a:pPr>
              <a:defRPr sz="1350" b="0" i="0">
                <a:solidFill>
                  <a:srgbClr val="1C2521"/>
                </a:solidFill>
                <a:latin typeface="Segoe UI"/>
              </a:defRPr>
            </a:pPr>
            <a:r>
              <a:t>Every incident ends with a human editing a prompt — unversioned, unreviewed, unmeasured. Headcount scales with agent count.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4069080"/>
            <a:ext cx="5349240" cy="1920240"/>
          </a:xfrm>
          <a:prstGeom prst="roundRect">
            <a:avLst>
              <a:gd name="adj" fmla="val 6000"/>
            </a:avLst>
          </a:prstGeom>
          <a:solidFill>
            <a:srgbClr val="F0F4F0"/>
          </a:solidFill>
          <a:ln w="12700">
            <a:solidFill>
              <a:srgbClr val="DC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600"/>
              </a:spcAft>
              <a:defRPr sz="1300" b="1" i="0">
                <a:solidFill>
                  <a:srgbClr val="A8691C"/>
                </a:solidFill>
                <a:latin typeface="Consolas"/>
              </a:defRPr>
            </a:pPr>
            <a:r>
              <a:t>FRAMEWORK FEAR</a:t>
            </a:r>
          </a:p>
          <a:p>
            <a:pPr>
              <a:defRPr sz="1350" b="0" i="0">
                <a:solidFill>
                  <a:srgbClr val="1C2521"/>
                </a:solidFill>
                <a:latin typeface="Segoe UI"/>
              </a:defRPr>
            </a:pPr>
            <a:r>
              <a:t>LangGraph, CrewAI, AutoGen churn quarterly. No one wants to bet a program on an API surviving the year.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 i="0">
                <a:solidFill>
                  <a:srgbClr val="5C6A63"/>
                </a:solidFill>
                <a:latin typeface="Consolas"/>
              </a:defRPr>
            </a:pPr>
            <a:r>
              <a:t>GRAXELLA · THE EVIDENCE LOOP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i="0">
                <a:solidFill>
                  <a:srgbClr val="14805E"/>
                </a:solidFill>
                <a:latin typeface="Consolas"/>
              </a:defRPr>
            </a:pPr>
            <a:r>
              <a:t>THE PROBLEM · 3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 i="0">
                <a:solidFill>
                  <a:srgbClr val="1C2521"/>
                </a:solidFill>
                <a:latin typeface="Segoe UI"/>
              </a:defRPr>
            </a:pPr>
            <a:r>
              <a:t>Where the industry is vs where Graxella is heading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83080"/>
          <a:ext cx="10881360" cy="4334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526280"/>
                <a:gridCol w="4526280"/>
              </a:tblGrid>
              <a:tr h="384048">
                <a:tc>
                  <a:txBody>
                    <a:bodyPr wrap="square"/>
                    <a:lstStyle/>
                    <a:p>
                      <a:pPr>
                        <a:defRPr sz="1150" b="1" i="0">
                          <a:solidFill>
                            <a:srgbClr val="14805E"/>
                          </a:solidFill>
                          <a:latin typeface="Consolas"/>
                        </a:defRPr>
                      </a:pPr>
                      <a:r>
                        <a:t>DIMENSION</a:t>
                      </a:r>
                    </a:p>
                  </a:txBody>
                  <a:tcPr marL="82296" marR="82296" marT="36576" marB="36576" anchor="ctr">
                    <a:solidFill>
                      <a:srgbClr val="E2EFE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1" i="0">
                          <a:solidFill>
                            <a:srgbClr val="14805E"/>
                          </a:solidFill>
                          <a:latin typeface="Consolas"/>
                        </a:defRPr>
                      </a:pPr>
                      <a:r>
                        <a:t>CURRENT AGENT STACKS</a:t>
                      </a:r>
                    </a:p>
                  </a:txBody>
                  <a:tcPr marL="82296" marR="82296" marT="36576" marB="36576" anchor="ctr">
                    <a:solidFill>
                      <a:srgbClr val="E2EFE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1" i="0">
                          <a:solidFill>
                            <a:srgbClr val="14805E"/>
                          </a:solidFill>
                          <a:latin typeface="Consolas"/>
                        </a:defRPr>
                      </a:pPr>
                      <a:r>
                        <a:t>GRAXELLA DIRECTION</a:t>
                      </a:r>
                    </a:p>
                  </a:txBody>
                  <a:tcPr marL="82296" marR="82296" marT="36576" marB="36576" anchor="ctr">
                    <a:solidFill>
                      <a:srgbClr val="E2EFE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defRPr sz="1250" b="1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Learning</a:t>
                      </a:r>
                    </a:p>
                  </a:txBody>
                  <a:tcPr marL="82296" marR="82296" marT="36576" marB="36576" anchor="ctr">
                    <a:solidFill>
                      <a:srgbClr val="FAFB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Runtime LLM judges, critics, retries — pay per call, forever</a:t>
                      </a:r>
                    </a:p>
                  </a:txBody>
                  <a:tcPr marL="82296" marR="82296" marT="36576" marB="36576" anchor="ctr">
                    <a:solidFill>
                      <a:srgbClr val="FAFB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Compile-time learning; deterministic O(1) dispatch</a:t>
                      </a:r>
                    </a:p>
                  </a:txBody>
                  <a:tcPr marL="82296" marR="82296" marT="36576" marB="36576" anchor="ctr">
                    <a:solidFill>
                      <a:srgbClr val="FAFB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defRPr sz="1250" b="1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Fixes</a:t>
                      </a:r>
                    </a:p>
                  </a:txBody>
                  <a:tcPr marL="82296" marR="82296" marT="36576" marB="36576" anchor="ctr">
                    <a:solidFill>
                      <a:srgbClr val="F0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Prompt edits in prose — unversioned, unreviewable</a:t>
                      </a:r>
                    </a:p>
                  </a:txBody>
                  <a:tcPr marL="82296" marR="82296" marT="36576" marB="36576" anchor="ctr">
                    <a:solidFill>
                      <a:srgbClr val="F0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Versioned promotions — gated, cited, rollbackable</a:t>
                      </a:r>
                    </a:p>
                  </a:txBody>
                  <a:tcPr marL="82296" marR="82296" marT="36576" marB="36576" anchor="ctr">
                    <a:solidFill>
                      <a:srgbClr val="F0F4F0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defRPr sz="1250" b="1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Audit</a:t>
                      </a:r>
                    </a:p>
                  </a:txBody>
                  <a:tcPr marL="82296" marR="82296" marT="36576" marB="36576" anchor="ctr">
                    <a:solidFill>
                      <a:srgbClr val="FAFB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Trace viewers; ‘why’ is forensics after the incident</a:t>
                      </a:r>
                    </a:p>
                  </a:txBody>
                  <a:tcPr marL="82296" marR="82296" marT="36576" marB="36576" anchor="ctr">
                    <a:solidFill>
                      <a:srgbClr val="FAFB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why() is a lookup — citations recorded by construction</a:t>
                      </a:r>
                    </a:p>
                  </a:txBody>
                  <a:tcPr marL="82296" marR="82296" marT="36576" marB="36576" anchor="ctr">
                    <a:solidFill>
                      <a:srgbClr val="FAFB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defRPr sz="1250" b="1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Governance</a:t>
                      </a:r>
                    </a:p>
                  </a:txBody>
                  <a:tcPr marL="82296" marR="82296" marT="36576" marB="36576" anchor="ctr">
                    <a:solidFill>
                      <a:srgbClr val="F0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Static guardrail rules or LLM-as-judge opinions</a:t>
                      </a:r>
                    </a:p>
                  </a:txBody>
                  <a:tcPr marL="82296" marR="82296" marT="36576" marB="36576" anchor="ctr">
                    <a:solidFill>
                      <a:srgbClr val="F0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Bayesian gate reading the org's own outcome ledger</a:t>
                      </a:r>
                    </a:p>
                  </a:txBody>
                  <a:tcPr marL="82296" marR="82296" marT="36576" marB="36576" anchor="ctr">
                    <a:solidFill>
                      <a:srgbClr val="F0F4F0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defRPr sz="1250" b="1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Reliability curve</a:t>
                      </a:r>
                    </a:p>
                  </a:txBody>
                  <a:tcPr marL="82296" marR="82296" marT="36576" marB="36576" anchor="ctr">
                    <a:solidFill>
                      <a:srgbClr val="FAFB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Flat — volume produces cost, not improvement</a:t>
                      </a:r>
                    </a:p>
                  </a:txBody>
                  <a:tcPr marL="82296" marR="82296" marT="36576" marB="36576" anchor="ctr">
                    <a:solidFill>
                      <a:srgbClr val="FAFB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Positive slope — volume produces evidence, evidence promotes fixes</a:t>
                      </a:r>
                    </a:p>
                  </a:txBody>
                  <a:tcPr marL="82296" marR="82296" marT="36576" marB="36576" anchor="ctr">
                    <a:solidFill>
                      <a:srgbClr val="FAFB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defRPr sz="1250" b="1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Lock-in</a:t>
                      </a:r>
                    </a:p>
                  </a:txBody>
                  <a:tcPr marL="82296" marR="82296" marT="36576" marB="36576" anchor="ctr">
                    <a:solidFill>
                      <a:srgbClr val="F0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Bet the program on one framework's API</a:t>
                      </a:r>
                    </a:p>
                  </a:txBody>
                  <a:tcPr marL="82296" marR="82296" marT="36576" marB="36576" anchor="ctr">
                    <a:solidFill>
                      <a:srgbClr val="F0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Substrate under any framework; adapters ride the churn</a:t>
                      </a:r>
                    </a:p>
                  </a:txBody>
                  <a:tcPr marL="82296" marR="82296" marT="36576" marB="36576" anchor="ctr">
                    <a:solidFill>
                      <a:srgbClr val="F0F4F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4739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 i="0">
                <a:solidFill>
                  <a:srgbClr val="5C6A63"/>
                </a:solidFill>
                <a:latin typeface="Consolas"/>
              </a:defRPr>
            </a:pPr>
            <a:r>
              <a:t>GRAXELLA · THE EVIDENCE LOOP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i="0">
                <a:solidFill>
                  <a:srgbClr val="14805E"/>
                </a:solidFill>
                <a:latin typeface="Consolas"/>
              </a:defRPr>
            </a:pPr>
            <a:r>
              <a:t>TIMING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 i="0">
                <a:solidFill>
                  <a:srgbClr val="1C2521"/>
                </a:solidFill>
                <a:latin typeface="Segoe UI"/>
              </a:defRPr>
            </a:pPr>
            <a:r>
              <a:t>Why now — four forces converge in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4805E"/>
                </a:solidFill>
                <a:latin typeface="Segoe UI"/>
              </a:rPr>
              <a:t>The production wall is universal — </a:t>
            </a:r>
            <a:r>
              <a:rPr sz="1500">
                <a:solidFill>
                  <a:srgbClr val="1C2521"/>
                </a:solidFill>
                <a:latin typeface="Segoe UI"/>
              </a:rPr>
              <a:t>the first enterprise agent wave (2024–25) has hit scale-up meetings everywhere; the pain is budgeted, named, and unsolved.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4805E"/>
                </a:solidFill>
                <a:latin typeface="Segoe UI"/>
              </a:rPr>
              <a:t>Regulation has a date — </a:t>
            </a:r>
            <a:r>
              <a:rPr sz="1500">
                <a:solidFill>
                  <a:srgbClr val="1C2521"/>
                </a:solidFill>
                <a:latin typeface="Segoe UI"/>
              </a:rPr>
              <a:t>EU AI Act obligations are phasing in now. Cited, replayable decision trails move from nice-to-have to license-to-operate.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4805E"/>
                </a:solidFill>
                <a:latin typeface="Segoe UI"/>
              </a:rPr>
              <a:t>Token economics broke the LLM-judge pattern — </a:t>
            </a:r>
            <a:r>
              <a:rPr sz="1500">
                <a:solidFill>
                  <a:srgbClr val="1C2521"/>
                </a:solidFill>
                <a:latin typeface="Segoe UI"/>
              </a:rPr>
              <a:t>per-decision LLM governance gets linearly more expensive with volume — exactly when volume is the goal. A ledger lookup gets cheaper.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4805E"/>
                </a:solidFill>
                <a:latin typeface="Segoe UI"/>
              </a:rPr>
              <a:t>Enterprises already have the fuel — </a:t>
            </a:r>
            <a:r>
              <a:rPr sz="1500">
                <a:solidFill>
                  <a:srgbClr val="1C2521"/>
                </a:solidFill>
                <a:latin typeface="Segoe UI"/>
              </a:rPr>
              <a:t>millions of agent runs are being thrown away as logs. The evidence to make agents reliable already exists — nothing is built to learn from it.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4805E"/>
                </a:solidFill>
                <a:latin typeface="Segoe UI"/>
              </a:rPr>
              <a:t>The window — </a:t>
            </a:r>
            <a:r>
              <a:rPr sz="1500">
                <a:solidFill>
                  <a:srgbClr val="1C2521"/>
                </a:solidFill>
                <a:latin typeface="Segoe UI"/>
              </a:rPr>
              <a:t>observability vendors see traces, not decisions; framework vendors own syntax, not evidence. The evidence substrate seat is empty.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 i="0">
                <a:solidFill>
                  <a:srgbClr val="5C6A63"/>
                </a:solidFill>
                <a:latin typeface="Consolas"/>
              </a:defRPr>
            </a:pPr>
            <a:r>
              <a:t>GRAXELLA · THE EVIDENCE LOOP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i="0">
                <a:solidFill>
                  <a:srgbClr val="14805E"/>
                </a:solidFill>
                <a:latin typeface="Consolas"/>
              </a:defRPr>
            </a:pPr>
            <a:r>
              <a:t>THE SOLUTION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 i="0">
                <a:solidFill>
                  <a:srgbClr val="1C2521"/>
                </a:solidFill>
                <a:latin typeface="Segoe UI"/>
              </a:defRPr>
            </a:pPr>
            <a:r>
              <a:t>Agent behavior becomes an evidence-promoted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C6A63"/>
                </a:solidFill>
                <a:latin typeface="Segoe UI"/>
              </a:defRPr>
            </a:pPr>
            <a:r>
              <a:t>GitOps for agent behavior: the unit of improvement is a promotion, and the reviewer is a Bayesian gate reading your own operational history.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b="1" sz="1450">
                <a:solidFill>
                  <a:srgbClr val="14805E"/>
                </a:solidFill>
                <a:latin typeface="Segoe UI"/>
              </a:rPr>
              <a:t>Invert the industry default — </a:t>
            </a:r>
            <a:r>
              <a:rPr sz="1450">
                <a:solidFill>
                  <a:srgbClr val="1C2521"/>
                </a:solidFill>
                <a:latin typeface="Segoe UI"/>
              </a:rPr>
              <a:t>everyone else adds runtime LLM judgment. Graxella moves ALL learning to compile time; the hot path stays deterministic, cheap, and auditable.</a:t>
            </a:r>
          </a:p>
          <a:p>
            <a:pPr>
              <a:spcAft>
                <a:spcPts val="1100"/>
              </a:spcAft>
            </a:pPr>
            <a:r>
              <a:rPr b="1" sz="1450">
                <a:solidFill>
                  <a:srgbClr val="14805E"/>
                </a:solidFill>
                <a:latin typeface="Segoe UI"/>
              </a:rPr>
              <a:t>Every run produces evidence — </a:t>
            </a:r>
            <a:r>
              <a:rPr sz="1450">
                <a:solidFill>
                  <a:srgbClr val="1C2521"/>
                </a:solidFill>
                <a:latin typeface="Segoe UI"/>
              </a:rPr>
              <a:t>each dispatch auto-records a typed decision and a typed outcome into an immutable ledger (mnema). No opt-in, no instrumentation project.</a:t>
            </a:r>
          </a:p>
          <a:p>
            <a:pPr>
              <a:spcAft>
                <a:spcPts val="1100"/>
              </a:spcAft>
            </a:pPr>
            <a:r>
              <a:rPr b="1" sz="1450">
                <a:solidFill>
                  <a:srgbClr val="14805E"/>
                </a:solidFill>
                <a:latin typeface="Segoe UI"/>
              </a:rPr>
              <a:t>Fixes are mined, not authored — </a:t>
            </a:r>
            <a:r>
              <a:rPr sz="1450">
                <a:solidFill>
                  <a:srgbClr val="1C2521"/>
                </a:solidFill>
                <a:latin typeface="Segoe UI"/>
              </a:rPr>
              <a:t>offline miners read the ledger and docs, and propose concrete changes: reroutes, field maps, healing recipes, skill reweights.</a:t>
            </a:r>
          </a:p>
          <a:p>
            <a:pPr>
              <a:spcAft>
                <a:spcPts val="1100"/>
              </a:spcAft>
            </a:pPr>
            <a:r>
              <a:rPr b="1" sz="1450">
                <a:solidFill>
                  <a:srgbClr val="14805E"/>
                </a:solidFill>
                <a:latin typeface="Segoe UI"/>
              </a:rPr>
              <a:t>Promotion requires evidence — </a:t>
            </a:r>
            <a:r>
              <a:rPr sz="1450">
                <a:solidFill>
                  <a:srgbClr val="1C2521"/>
                </a:solidFill>
                <a:latin typeface="Segoe UI"/>
              </a:rPr>
              <a:t>a proposal ships only when the gate finds sufficient cited history for that exact (domain, kind) — or a human signs off. Constitution invariants are never bypassed.</a:t>
            </a:r>
          </a:p>
          <a:p>
            <a:pPr>
              <a:spcAft>
                <a:spcPts val="1100"/>
              </a:spcAft>
            </a:pPr>
            <a:r>
              <a:rPr b="1" sz="1450">
                <a:solidFill>
                  <a:srgbClr val="14805E"/>
                </a:solidFill>
                <a:latin typeface="Segoe UI"/>
              </a:rPr>
              <a:t>Everything is reversible — </a:t>
            </a:r>
            <a:r>
              <a:rPr sz="1450">
                <a:solidFill>
                  <a:srgbClr val="1C2521"/>
                </a:solidFill>
                <a:latin typeface="Segoe UI"/>
              </a:rPr>
              <a:t>promotions are versioned with rollback points. Behavior change gets the change-management discipline code already has.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 i="0">
                <a:solidFill>
                  <a:srgbClr val="5C6A63"/>
                </a:solidFill>
                <a:latin typeface="Consolas"/>
              </a:defRPr>
            </a:pPr>
            <a:r>
              <a:t>GRAXELLA · THE EVIDENCE LOOP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i="0">
                <a:solidFill>
                  <a:srgbClr val="14805E"/>
                </a:solidFill>
                <a:latin typeface="Consolas"/>
              </a:defRPr>
            </a:pPr>
            <a:r>
              <a:t>THE CORE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 i="0">
                <a:solidFill>
                  <a:srgbClr val="1C2521"/>
                </a:solidFill>
                <a:latin typeface="Segoe UI"/>
              </a:defRPr>
            </a:pPr>
            <a:r>
              <a:t>The Evidence Loop — six stages, one substrate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240280"/>
            <a:ext cx="1755648" cy="1325880"/>
          </a:xfrm>
          <a:prstGeom prst="roundRect">
            <a:avLst>
              <a:gd name="adj" fmla="val 6000"/>
            </a:avLst>
          </a:prstGeom>
          <a:solidFill>
            <a:srgbClr val="F0F4F0"/>
          </a:solidFill>
          <a:ln w="12700">
            <a:solidFill>
              <a:srgbClr val="DC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1300" b="1" i="0">
                <a:solidFill>
                  <a:srgbClr val="1C2521"/>
                </a:solidFill>
                <a:latin typeface="Consolas"/>
              </a:defRPr>
            </a:pPr>
            <a:r>
              <a:t>DISPATCH</a:t>
            </a:r>
          </a:p>
          <a:p>
            <a:pPr algn="ctr">
              <a:defRPr sz="950" b="0" i="0">
                <a:solidFill>
                  <a:srgbClr val="5C6A63"/>
                </a:solidFill>
                <a:latin typeface="Segoe UI"/>
              </a:defRPr>
            </a:pPr>
            <a:r>
              <a:t>deterministic · O(1)</a:t>
            </a:r>
          </a:p>
          <a:p>
            <a:pPr algn="ctr">
              <a:defRPr sz="950" b="0" i="0">
                <a:solidFill>
                  <a:srgbClr val="5C6A63"/>
                </a:solidFill>
                <a:latin typeface="Segoe UI"/>
              </a:defRPr>
            </a:pPr>
            <a:r>
              <a:t>zero runtime LLM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395727" y="2820924"/>
            <a:ext cx="164592" cy="164592"/>
          </a:xfrm>
          <a:prstGeom prst="rightArrow">
            <a:avLst/>
          </a:prstGeom>
          <a:solidFill>
            <a:srgbClr val="148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23744" y="2240280"/>
            <a:ext cx="1755648" cy="1325880"/>
          </a:xfrm>
          <a:prstGeom prst="roundRect">
            <a:avLst>
              <a:gd name="adj" fmla="val 6000"/>
            </a:avLst>
          </a:prstGeom>
          <a:solidFill>
            <a:srgbClr val="F0F4F0"/>
          </a:solidFill>
          <a:ln w="12700">
            <a:solidFill>
              <a:srgbClr val="DC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1300" b="1" i="0">
                <a:solidFill>
                  <a:srgbClr val="1C2521"/>
                </a:solidFill>
                <a:latin typeface="Consolas"/>
              </a:defRPr>
            </a:pPr>
            <a:r>
              <a:t>OUTCOME</a:t>
            </a:r>
          </a:p>
          <a:p>
            <a:pPr algn="ctr">
              <a:defRPr sz="950" b="0" i="0">
                <a:solidFill>
                  <a:srgbClr val="5C6A63"/>
                </a:solidFill>
                <a:latin typeface="Segoe UI"/>
              </a:defRPr>
            </a:pPr>
            <a:r>
              <a:t>typed · auto-recorded</a:t>
            </a:r>
          </a:p>
          <a:p>
            <a:pPr algn="ctr">
              <a:defRPr sz="950" b="0" i="0">
                <a:solidFill>
                  <a:srgbClr val="5C6A63"/>
                </a:solidFill>
                <a:latin typeface="Segoe UI"/>
              </a:defRPr>
            </a:pPr>
            <a:r>
              <a:t>per hop + per chain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261104" y="2820924"/>
            <a:ext cx="164592" cy="164592"/>
          </a:xfrm>
          <a:prstGeom prst="rightArrow">
            <a:avLst/>
          </a:prstGeom>
          <a:solidFill>
            <a:srgbClr val="148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2240280"/>
            <a:ext cx="1755648" cy="1325880"/>
          </a:xfrm>
          <a:prstGeom prst="roundRect">
            <a:avLst>
              <a:gd name="adj" fmla="val 6000"/>
            </a:avLst>
          </a:prstGeom>
          <a:solidFill>
            <a:srgbClr val="E2EFE9"/>
          </a:solidFill>
          <a:ln w="12700">
            <a:solidFill>
              <a:srgbClr val="1480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1300" b="1" i="0">
                <a:solidFill>
                  <a:srgbClr val="14805E"/>
                </a:solidFill>
                <a:latin typeface="Consolas"/>
              </a:defRPr>
            </a:pPr>
            <a:r>
              <a:t>LEDGER</a:t>
            </a:r>
          </a:p>
          <a:p>
            <a:pPr algn="ctr">
              <a:defRPr sz="950" b="0" i="0">
                <a:solidFill>
                  <a:srgbClr val="5C6A63"/>
                </a:solidFill>
                <a:latin typeface="Segoe UI"/>
              </a:defRPr>
            </a:pPr>
            <a:r>
              <a:t>immutable · cited</a:t>
            </a:r>
          </a:p>
          <a:p>
            <a:pPr algn="ctr">
              <a:defRPr sz="950" b="0" i="0">
                <a:solidFill>
                  <a:srgbClr val="5C6A63"/>
                </a:solidFill>
                <a:latin typeface="Segoe UI"/>
              </a:defRPr>
            </a:pPr>
            <a:r>
              <a:t>mnema substrate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126480" y="2820924"/>
            <a:ext cx="164592" cy="164592"/>
          </a:xfrm>
          <a:prstGeom prst="rightArrow">
            <a:avLst/>
          </a:prstGeom>
          <a:solidFill>
            <a:srgbClr val="148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54496" y="2240280"/>
            <a:ext cx="1755648" cy="1325880"/>
          </a:xfrm>
          <a:prstGeom prst="roundRect">
            <a:avLst>
              <a:gd name="adj" fmla="val 6000"/>
            </a:avLst>
          </a:prstGeom>
          <a:solidFill>
            <a:srgbClr val="F0F4F0"/>
          </a:solidFill>
          <a:ln w="12700">
            <a:solidFill>
              <a:srgbClr val="DC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1300" b="1" i="0">
                <a:solidFill>
                  <a:srgbClr val="1C2521"/>
                </a:solidFill>
                <a:latin typeface="Consolas"/>
              </a:defRPr>
            </a:pPr>
            <a:r>
              <a:t>PROPOSAL</a:t>
            </a:r>
          </a:p>
          <a:p>
            <a:pPr algn="ctr">
              <a:defRPr sz="950" b="0" i="0">
                <a:solidFill>
                  <a:srgbClr val="5C6A63"/>
                </a:solidFill>
                <a:latin typeface="Segoe UI"/>
              </a:defRPr>
            </a:pPr>
            <a:r>
              <a:t>mined offline</a:t>
            </a:r>
          </a:p>
          <a:p>
            <a:pPr algn="ctr">
              <a:defRPr sz="950" b="0" i="0">
                <a:solidFill>
                  <a:srgbClr val="5C6A63"/>
                </a:solidFill>
                <a:latin typeface="Segoe UI"/>
              </a:defRPr>
            </a:pPr>
            <a:r>
              <a:t>LLM allowed here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991856" y="2820924"/>
            <a:ext cx="164592" cy="164592"/>
          </a:xfrm>
          <a:prstGeom prst="rightArrow">
            <a:avLst/>
          </a:prstGeom>
          <a:solidFill>
            <a:srgbClr val="148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19872" y="2240280"/>
            <a:ext cx="1755648" cy="1325880"/>
          </a:xfrm>
          <a:prstGeom prst="roundRect">
            <a:avLst>
              <a:gd name="adj" fmla="val 6000"/>
            </a:avLst>
          </a:prstGeom>
          <a:solidFill>
            <a:srgbClr val="F0F4F0"/>
          </a:solidFill>
          <a:ln w="12700">
            <a:solidFill>
              <a:srgbClr val="DC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1300" b="1" i="0">
                <a:solidFill>
                  <a:srgbClr val="1C2521"/>
                </a:solidFill>
                <a:latin typeface="Consolas"/>
              </a:defRPr>
            </a:pPr>
            <a:r>
              <a:t>GATE</a:t>
            </a:r>
          </a:p>
          <a:p>
            <a:pPr algn="ctr">
              <a:defRPr sz="950" b="0" i="0">
                <a:solidFill>
                  <a:srgbClr val="5C6A63"/>
                </a:solidFill>
                <a:latin typeface="Segoe UI"/>
              </a:defRPr>
            </a:pPr>
            <a:r>
              <a:t>Bayesian · per-domain</a:t>
            </a:r>
          </a:p>
          <a:p>
            <a:pPr algn="ctr">
              <a:defRPr sz="950" b="0" i="0">
                <a:solidFill>
                  <a:srgbClr val="5C6A63"/>
                </a:solidFill>
                <a:latin typeface="Segoe UI"/>
              </a:defRPr>
            </a:pPr>
            <a:r>
              <a:t>zero LLM in decision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857232" y="2820924"/>
            <a:ext cx="164592" cy="164592"/>
          </a:xfrm>
          <a:prstGeom prst="rightArrow">
            <a:avLst/>
          </a:prstGeom>
          <a:solidFill>
            <a:srgbClr val="148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985248" y="2240280"/>
            <a:ext cx="1755648" cy="1325880"/>
          </a:xfrm>
          <a:prstGeom prst="roundRect">
            <a:avLst>
              <a:gd name="adj" fmla="val 6000"/>
            </a:avLst>
          </a:prstGeom>
          <a:solidFill>
            <a:srgbClr val="F0F4F0"/>
          </a:solidFill>
          <a:ln w="12700">
            <a:solidFill>
              <a:srgbClr val="DC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sz="1300" b="1" i="0">
                <a:solidFill>
                  <a:srgbClr val="1C2521"/>
                </a:solidFill>
                <a:latin typeface="Consolas"/>
              </a:defRPr>
            </a:pPr>
            <a:r>
              <a:t>PROMOTION</a:t>
            </a:r>
          </a:p>
          <a:p>
            <a:pPr algn="ctr">
              <a:defRPr sz="950" b="0" i="0">
                <a:solidFill>
                  <a:srgbClr val="5C6A63"/>
                </a:solidFill>
                <a:latin typeface="Segoe UI"/>
              </a:defRPr>
            </a:pPr>
            <a:r>
              <a:t>versioned</a:t>
            </a:r>
          </a:p>
          <a:p>
            <a:pPr algn="ctr">
              <a:defRPr sz="950" b="0" i="0">
                <a:solidFill>
                  <a:srgbClr val="5C6A63"/>
                </a:solidFill>
                <a:latin typeface="Segoe UI"/>
              </a:defRPr>
            </a:pPr>
            <a:r>
              <a:t>rollbackable</a:t>
            </a:r>
          </a:p>
        </p:txBody>
      </p:sp>
      <p:sp>
        <p:nvSpPr>
          <p:cNvPr id="16" name="Left Arrow 15"/>
          <p:cNvSpPr/>
          <p:nvPr/>
        </p:nvSpPr>
        <p:spPr>
          <a:xfrm>
            <a:off x="932688" y="4069080"/>
            <a:ext cx="10424160" cy="384048"/>
          </a:xfrm>
          <a:prstGeom prst="leftArrow">
            <a:avLst/>
          </a:prstGeom>
          <a:solidFill>
            <a:srgbClr val="E2EFE9"/>
          </a:solidFill>
          <a:ln w="12700">
            <a:solidFill>
              <a:srgbClr val="1480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 i="0">
                <a:solidFill>
                  <a:srgbClr val="14805E"/>
                </a:solidFill>
                <a:latin typeface="Consolas"/>
              </a:defRPr>
            </a:pPr>
            <a:r>
              <a:t>next dispatch reads promoted behavior — reliability compounds with volume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9204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350">
                <a:solidFill>
                  <a:srgbClr val="14805E"/>
                </a:solidFill>
                <a:latin typeface="Segoe UI"/>
              </a:rPr>
              <a:t>LLMs participate only offline — </a:t>
            </a:r>
            <a:r>
              <a:rPr sz="1350">
                <a:solidFill>
                  <a:srgbClr val="1C2521"/>
                </a:solidFill>
                <a:latin typeface="Segoe UI"/>
              </a:rPr>
              <a:t>mining proposals from evidence. The runtime path and the governance path are deterministic end to end.</a:t>
            </a:r>
          </a:p>
          <a:p>
            <a:pPr>
              <a:spcAft>
                <a:spcPts val="1000"/>
              </a:spcAft>
            </a:pPr>
            <a:r>
              <a:rPr b="1" sz="1350">
                <a:solidFill>
                  <a:srgbClr val="14805E"/>
                </a:solidFill>
                <a:latin typeface="Segoe UI"/>
              </a:rPr>
              <a:t>One substrate, no side channels — </a:t>
            </a:r>
            <a:r>
              <a:rPr sz="1350">
                <a:solidFill>
                  <a:srgbClr val="1C2521"/>
                </a:solidFill>
                <a:latin typeface="Segoe UI"/>
              </a:rPr>
              <a:t>decisions, outcomes, proposals, gate verdicts, and promotions all live in the same immutable ledger — the audit trail is produced by the system, not bolted onto 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 i="0">
                <a:solidFill>
                  <a:srgbClr val="5C6A63"/>
                </a:solidFill>
                <a:latin typeface="Consolas"/>
              </a:defRPr>
            </a:pPr>
            <a:r>
              <a:t>GRAXELLA · THE EVIDENCE LOOP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i="0">
                <a:solidFill>
                  <a:srgbClr val="14805E"/>
                </a:solidFill>
                <a:latin typeface="Consolas"/>
              </a:defRPr>
            </a:pPr>
            <a:r>
              <a:t>FAILURE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 i="0">
                <a:solidFill>
                  <a:srgbClr val="1C2521"/>
                </a:solidFill>
                <a:latin typeface="Segoe UI"/>
              </a:defRPr>
            </a:pPr>
            <a:r>
              <a:t>Production failures vs the Graxella mechanism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37360"/>
          <a:ext cx="1088136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3520440"/>
                <a:gridCol w="4754880"/>
              </a:tblGrid>
              <a:tr h="384048">
                <a:tc>
                  <a:txBody>
                    <a:bodyPr wrap="square"/>
                    <a:lstStyle/>
                    <a:p>
                      <a:pPr>
                        <a:defRPr sz="1050" b="1" i="0">
                          <a:solidFill>
                            <a:srgbClr val="14805E"/>
                          </a:solidFill>
                          <a:latin typeface="Consolas"/>
                        </a:defRPr>
                      </a:pPr>
                      <a:r>
                        <a:t>PRODUCTION FAILURE</a:t>
                      </a:r>
                    </a:p>
                  </a:txBody>
                  <a:tcPr marL="82296" marR="82296" marT="36576" marB="36576" anchor="ctr">
                    <a:solidFill>
                      <a:srgbClr val="E2EFE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 i="0">
                          <a:solidFill>
                            <a:srgbClr val="14805E"/>
                          </a:solidFill>
                          <a:latin typeface="Consolas"/>
                        </a:defRPr>
                      </a:pPr>
                      <a:r>
                        <a:t>HOW IT'S HANDLED TODAY</a:t>
                      </a:r>
                    </a:p>
                  </a:txBody>
                  <a:tcPr marL="82296" marR="82296" marT="36576" marB="36576" anchor="ctr">
                    <a:solidFill>
                      <a:srgbClr val="E2EFE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 i="0">
                          <a:solidFill>
                            <a:srgbClr val="14805E"/>
                          </a:solidFill>
                          <a:latin typeface="Consolas"/>
                        </a:defRPr>
                      </a:pPr>
                      <a:r>
                        <a:t>GRAXELLA MECHANISM</a:t>
                      </a:r>
                    </a:p>
                  </a:txBody>
                  <a:tcPr marL="82296" marR="82296" marT="36576" marB="36576" anchor="ctr">
                    <a:solidFill>
                      <a:srgbClr val="E2EFE9"/>
                    </a:solidFill>
                  </a:tcPr>
                </a:tc>
              </a:tr>
              <a:tr h="758952">
                <a:tc>
                  <a:txBody>
                    <a:bodyPr wrap="square"/>
                    <a:lstStyle/>
                    <a:p>
                      <a:pPr>
                        <a:defRPr sz="1150" b="1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Tool deprecated / field renamed (drift)</a:t>
                      </a:r>
                    </a:p>
                  </a:txBody>
                  <a:tcPr marL="82296" marR="82296" marT="36576" marB="36576" anchor="ctr">
                    <a:solidFill>
                      <a:srgbClr val="FAFB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Agent burns retries until a human edits the prompt</a:t>
                      </a:r>
                    </a:p>
                  </a:txBody>
                  <a:tcPr marL="82296" marR="82296" marT="36576" marB="36576" anchor="ctr">
                    <a:solidFill>
                      <a:srgbClr val="FAFB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Drift mined from episodes → healing recipe (field map / reroute) gated, then applied at dispatch. Zero retries.</a:t>
                      </a:r>
                    </a:p>
                  </a:txBody>
                  <a:tcPr marL="82296" marR="82296" marT="36576" marB="36576" anchor="ctr">
                    <a:solidFill>
                      <a:srgbClr val="FAFBF9"/>
                    </a:solidFill>
                  </a:tcPr>
                </a:tc>
              </a:tr>
              <a:tr h="758952">
                <a:tc>
                  <a:txBody>
                    <a:bodyPr wrap="square"/>
                    <a:lstStyle/>
                    <a:p>
                      <a:pPr>
                        <a:defRPr sz="1150" b="1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Chain breaks at step 7 of 10</a:t>
                      </a:r>
                    </a:p>
                  </a:txBody>
                  <a:tcPr marL="82296" marR="82296" marT="36576" marB="36576" anchor="ctr">
                    <a:solidFill>
                      <a:srgbClr val="F0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Whole workflow fails; root cause found by log archaeology</a:t>
                      </a:r>
                    </a:p>
                  </a:txBody>
                  <a:tcPr marL="82296" marR="82296" marT="36576" marB="36576" anchor="ctr">
                    <a:solidFill>
                      <a:srgbClr val="F0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Per-hop outcomes + trajectory ledger → chain-level healing proposal; same fault next week self-heals</a:t>
                      </a:r>
                    </a:p>
                  </a:txBody>
                  <a:tcPr marL="82296" marR="82296" marT="36576" marB="36576" anchor="ctr">
                    <a:solidFill>
                      <a:srgbClr val="F0F4F0"/>
                    </a:solidFill>
                  </a:tcPr>
                </a:tc>
              </a:tr>
              <a:tr h="758952">
                <a:tc>
                  <a:txBody>
                    <a:bodyPr wrap="square"/>
                    <a:lstStyle/>
                    <a:p>
                      <a:pPr>
                        <a:defRPr sz="1150" b="1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Task routed to the wrong agent</a:t>
                      </a:r>
                    </a:p>
                  </a:txBody>
                  <a:tcPr marL="82296" marR="82296" marT="36576" marB="36576" anchor="ctr">
                    <a:solidFill>
                      <a:srgbClr val="FAFB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Supervisor LLM guesses again (cost, non-determinism)</a:t>
                      </a:r>
                    </a:p>
                  </a:txBody>
                  <a:tcPr marL="82296" marR="82296" marT="36576" marB="36576" anchor="ctr">
                    <a:solidFill>
                      <a:srgbClr val="FAFB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Deterministic routing with audit features (matched tokens/tags); low-margin routes flagged for review</a:t>
                      </a:r>
                    </a:p>
                  </a:txBody>
                  <a:tcPr marL="82296" marR="82296" marT="36576" marB="36576" anchor="ctr">
                    <a:solidFill>
                      <a:srgbClr val="FAFBF9"/>
                    </a:solidFill>
                  </a:tcPr>
                </a:tc>
              </a:tr>
              <a:tr h="758952">
                <a:tc>
                  <a:txBody>
                    <a:bodyPr wrap="square"/>
                    <a:lstStyle/>
                    <a:p>
                      <a:pPr>
                        <a:defRPr sz="1150" b="1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Silent behavior drift after a change</a:t>
                      </a:r>
                    </a:p>
                  </a:txBody>
                  <a:tcPr marL="82296" marR="82296" marT="36576" marB="36576" anchor="ctr">
                    <a:solidFill>
                      <a:srgbClr val="F0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Discovered downstream, days later</a:t>
                      </a:r>
                    </a:p>
                  </a:txBody>
                  <a:tcPr marL="82296" marR="82296" marT="36576" marB="36576" anchor="ctr">
                    <a:solidFill>
                      <a:srgbClr val="F0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Detection-only governance: conflict, drift, low-confidence detectors fire loud events — nothing auto-corrects silently</a:t>
                      </a:r>
                    </a:p>
                  </a:txBody>
                  <a:tcPr marL="82296" marR="82296" marT="36576" marB="36576" anchor="ctr">
                    <a:solidFill>
                      <a:srgbClr val="F0F4F0"/>
                    </a:solidFill>
                  </a:tcPr>
                </a:tc>
              </a:tr>
              <a:tr h="758952">
                <a:tc>
                  <a:txBody>
                    <a:bodyPr wrap="square"/>
                    <a:lstStyle/>
                    <a:p>
                      <a:pPr>
                        <a:defRPr sz="1150" b="1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“Why did the agent do that?”</a:t>
                      </a:r>
                    </a:p>
                  </a:txBody>
                  <a:tcPr marL="82296" marR="82296" marT="36576" marB="36576" anchor="ctr">
                    <a:solidFill>
                      <a:srgbClr val="FAFB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Reconstructed by hand from traces, if at all</a:t>
                      </a:r>
                    </a:p>
                  </a:txBody>
                  <a:tcPr marL="82296" marR="82296" marT="36576" marB="36576" anchor="ctr">
                    <a:solidFill>
                      <a:srgbClr val="FAFB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why(decision) returns the citation chain — evidence, approver, threshold, rollback point</a:t>
                      </a:r>
                    </a:p>
                  </a:txBody>
                  <a:tcPr marL="82296" marR="82296" marT="36576" marB="36576" anchor="ctr">
                    <a:solidFill>
                      <a:srgbClr val="FAFBF9"/>
                    </a:solidFill>
                  </a:tcPr>
                </a:tc>
              </a:tr>
              <a:tr h="758952">
                <a:tc>
                  <a:txBody>
                    <a:bodyPr wrap="square"/>
                    <a:lstStyle/>
                    <a:p>
                      <a:pPr>
                        <a:defRPr sz="1150" b="1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A promoted fix regresses</a:t>
                      </a:r>
                    </a:p>
                  </a:txBody>
                  <a:tcPr marL="82296" marR="82296" marT="36576" marB="36576" anchor="ctr">
                    <a:solidFill>
                      <a:srgbClr val="F0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Roll back the prompt from memory, hope</a:t>
                      </a:r>
                    </a:p>
                  </a:txBody>
                  <a:tcPr marL="82296" marR="82296" marT="36576" marB="36576" anchor="ctr">
                    <a:solidFill>
                      <a:srgbClr val="F0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Promotions are versioned artifacts — one-step rollback, ledger records why</a:t>
                      </a:r>
                    </a:p>
                  </a:txBody>
                  <a:tcPr marL="82296" marR="82296" marT="36576" marB="36576" anchor="ctr">
                    <a:solidFill>
                      <a:srgbClr val="F0F4F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4739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 i="0">
                <a:solidFill>
                  <a:srgbClr val="5C6A63"/>
                </a:solidFill>
                <a:latin typeface="Consolas"/>
              </a:defRPr>
            </a:pPr>
            <a:r>
              <a:t>GRAXELLA · THE EVIDENCE LOOP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i="0">
                <a:solidFill>
                  <a:srgbClr val="14805E"/>
                </a:solidFill>
                <a:latin typeface="Consolas"/>
              </a:defRPr>
            </a:pPr>
            <a:r>
              <a:t>CORE TECHNICAL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 i="0">
                <a:solidFill>
                  <a:srgbClr val="1C2521"/>
                </a:solidFill>
                <a:latin typeface="Segoe UI"/>
              </a:defRPr>
            </a:pPr>
            <a:r>
              <a:t>The four-pillar bar, held by four design principles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651760" cy="2057400"/>
          </a:xfrm>
          <a:prstGeom prst="roundRect">
            <a:avLst>
              <a:gd name="adj" fmla="val 6000"/>
            </a:avLst>
          </a:prstGeom>
          <a:solidFill>
            <a:srgbClr val="F0F4F0"/>
          </a:solidFill>
          <a:ln w="12700">
            <a:solidFill>
              <a:srgbClr val="DC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/>
          <a:lstStyle/>
          <a:p>
            <a:pPr algn="ctr">
              <a:spcAft>
                <a:spcPts val="600"/>
              </a:spcAft>
              <a:defRPr sz="1300" b="1" i="0">
                <a:solidFill>
                  <a:srgbClr val="14805E"/>
                </a:solidFill>
                <a:latin typeface="Consolas"/>
              </a:defRPr>
            </a:pPr>
            <a:r>
              <a:t>COMPLEXITY</a:t>
            </a:r>
          </a:p>
          <a:p>
            <a:pPr>
              <a:defRPr sz="1150" b="0" i="0">
                <a:solidFill>
                  <a:srgbClr val="1C2521"/>
                </a:solidFill>
                <a:latin typeface="Segoe UI"/>
              </a:defRPr>
            </a:pPr>
            <a:r>
              <a:t>Scales to thousands of agents × hundreds of domains with zero new rules — evidence is per-(domain, kind), never global.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828800"/>
            <a:ext cx="2651760" cy="2057400"/>
          </a:xfrm>
          <a:prstGeom prst="roundRect">
            <a:avLst>
              <a:gd name="adj" fmla="val 6000"/>
            </a:avLst>
          </a:prstGeom>
          <a:solidFill>
            <a:srgbClr val="F0F4F0"/>
          </a:solidFill>
          <a:ln w="12700">
            <a:solidFill>
              <a:srgbClr val="DC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/>
          <a:lstStyle/>
          <a:p>
            <a:pPr algn="ctr">
              <a:spcAft>
                <a:spcPts val="600"/>
              </a:spcAft>
              <a:defRPr sz="1300" b="1" i="0">
                <a:solidFill>
                  <a:srgbClr val="14805E"/>
                </a:solidFill>
                <a:latin typeface="Consolas"/>
              </a:defRPr>
            </a:pPr>
            <a:r>
              <a:t>CLARITY</a:t>
            </a:r>
          </a:p>
          <a:p>
            <a:pPr>
              <a:defRPr sz="1150" b="0" i="0">
                <a:solidFill>
                  <a:srgbClr val="1C2521"/>
                </a:solidFill>
                <a:latin typeface="Segoe UI"/>
              </a:defRPr>
            </a:pPr>
            <a:r>
              <a:t>Every number traceable to named evidence. Explanations are recorded at decision time, not reconstructed.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828800"/>
            <a:ext cx="2651760" cy="2057400"/>
          </a:xfrm>
          <a:prstGeom prst="roundRect">
            <a:avLst>
              <a:gd name="adj" fmla="val 6000"/>
            </a:avLst>
          </a:prstGeom>
          <a:solidFill>
            <a:srgbClr val="F0F4F0"/>
          </a:solidFill>
          <a:ln w="12700">
            <a:solidFill>
              <a:srgbClr val="DC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/>
          <a:lstStyle/>
          <a:p>
            <a:pPr algn="ctr">
              <a:spcAft>
                <a:spcPts val="600"/>
              </a:spcAft>
              <a:defRPr sz="1300" b="1" i="0">
                <a:solidFill>
                  <a:srgbClr val="14805E"/>
                </a:solidFill>
                <a:latin typeface="Consolas"/>
              </a:defRPr>
            </a:pPr>
            <a:r>
              <a:t>OPTIMIZATION</a:t>
            </a:r>
          </a:p>
          <a:p>
            <a:pPr>
              <a:defRPr sz="1150" b="0" i="0">
                <a:solidFill>
                  <a:srgbClr val="1C2521"/>
                </a:solidFill>
                <a:latin typeface="Segoe UI"/>
              </a:defRPr>
            </a:pPr>
            <a:r>
              <a:t>Thresholds self-calibrate per tuple as outcomes accrue. Learning compounds locally, leaks nowhere.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89136" y="1828800"/>
            <a:ext cx="2651760" cy="2057400"/>
          </a:xfrm>
          <a:prstGeom prst="roundRect">
            <a:avLst>
              <a:gd name="adj" fmla="val 6000"/>
            </a:avLst>
          </a:prstGeom>
          <a:solidFill>
            <a:srgbClr val="F0F4F0"/>
          </a:solidFill>
          <a:ln w="12700">
            <a:solidFill>
              <a:srgbClr val="DC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/>
          <a:lstStyle/>
          <a:p>
            <a:pPr algn="ctr">
              <a:spcAft>
                <a:spcPts val="600"/>
              </a:spcAft>
              <a:defRPr sz="1300" b="1" i="0">
                <a:solidFill>
                  <a:srgbClr val="14805E"/>
                </a:solidFill>
                <a:latin typeface="Consolas"/>
              </a:defRPr>
            </a:pPr>
            <a:r>
              <a:t>RELIABILITY</a:t>
            </a:r>
          </a:p>
          <a:p>
            <a:pPr>
              <a:defRPr sz="1150" b="0" i="0">
                <a:solidFill>
                  <a:srgbClr val="1C2521"/>
                </a:solidFill>
                <a:latin typeface="Segoe UI"/>
              </a:defRPr>
            </a:pPr>
            <a:r>
              <a:t>Deterministic hot path, O(1) governance, no LLM in any decision loop. Failures are loud, never swallowed.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6052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350">
                <a:solidFill>
                  <a:srgbClr val="14805E"/>
                </a:solidFill>
                <a:latin typeface="Segoe UI"/>
              </a:rPr>
              <a:t>compile-time LLM &gt; runtime LLM — </a:t>
            </a:r>
            <a:r>
              <a:rPr sz="1350">
                <a:solidFill>
                  <a:srgbClr val="1C2521"/>
                </a:solidFill>
                <a:latin typeface="Segoe UI"/>
              </a:rPr>
              <a:t>learning happens offline; dispatch is deterministic and cheap.</a:t>
            </a:r>
          </a:p>
          <a:p>
            <a:pPr>
              <a:spcAft>
                <a:spcPts val="800"/>
              </a:spcAft>
            </a:pPr>
            <a:r>
              <a:rPr b="1" sz="1350">
                <a:solidFill>
                  <a:srgbClr val="14805E"/>
                </a:solidFill>
                <a:latin typeface="Segoe UI"/>
              </a:rPr>
              <a:t>detection-only governance — </a:t>
            </a:r>
            <a:r>
              <a:rPr sz="1350">
                <a:solidFill>
                  <a:srgbClr val="1C2521"/>
                </a:solidFill>
                <a:latin typeface="Segoe UI"/>
              </a:rPr>
              <a:t>detectors flag, humans and evidence promote — nothing silently self-corrects, because silent remediation destroys audit.</a:t>
            </a:r>
          </a:p>
          <a:p>
            <a:pPr>
              <a:spcAft>
                <a:spcPts val="800"/>
              </a:spcAft>
            </a:pPr>
            <a:r>
              <a:rPr b="1" sz="1350">
                <a:solidFill>
                  <a:srgbClr val="14805E"/>
                </a:solidFill>
                <a:latin typeface="Segoe UI"/>
              </a:rPr>
              <a:t>memory-grounded, cited, self-calibrating — </a:t>
            </a:r>
            <a:r>
              <a:rPr sz="1350">
                <a:solidFill>
                  <a:srgbClr val="1C2521"/>
                </a:solidFill>
                <a:latin typeface="Segoe UI"/>
              </a:rPr>
              <a:t>every governance decision reads from the ledger and writes back to it.</a:t>
            </a:r>
          </a:p>
          <a:p>
            <a:pPr>
              <a:spcAft>
                <a:spcPts val="800"/>
              </a:spcAft>
            </a:pPr>
            <a:r>
              <a:rPr b="1" sz="1350">
                <a:solidFill>
                  <a:srgbClr val="14805E"/>
                </a:solidFill>
                <a:latin typeface="Segoe UI"/>
              </a:rPr>
              <a:t>silent plumbing, loud failures — </a:t>
            </a:r>
            <a:r>
              <a:rPr sz="1350">
                <a:solidFill>
                  <a:srgbClr val="1C2521"/>
                </a:solidFill>
                <a:latin typeface="Segoe UI"/>
              </a:rPr>
              <a:t>users write zero protocol/JSON/YAML; every degradation is a flagged, visible event.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 i="0">
                <a:solidFill>
                  <a:srgbClr val="5C6A63"/>
                </a:solidFill>
                <a:latin typeface="Consolas"/>
              </a:defRPr>
            </a:pPr>
            <a:r>
              <a:t>GRAXELLA · THE EVIDENCE LOOP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i="0">
                <a:solidFill>
                  <a:srgbClr val="14805E"/>
                </a:solidFill>
                <a:latin typeface="Consolas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 i="0">
                <a:solidFill>
                  <a:srgbClr val="1C2521"/>
                </a:solidFill>
                <a:latin typeface="Segoe UI"/>
              </a:defRPr>
            </a:pPr>
            <a:r>
              <a:t>Control plane / data plane — built for scale from the split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394960" cy="3977639"/>
          </a:xfrm>
          <a:prstGeom prst="roundRect">
            <a:avLst>
              <a:gd name="adj" fmla="val 6000"/>
            </a:avLst>
          </a:prstGeom>
          <a:solidFill>
            <a:srgbClr val="F0F4F0"/>
          </a:solidFill>
          <a:ln w="12700">
            <a:solidFill>
              <a:srgbClr val="DC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46304"/>
          <a:lstStyle/>
          <a:p>
            <a:pPr algn="ctr">
              <a:spcAft>
                <a:spcPts val="800"/>
              </a:spcAft>
              <a:defRPr sz="1300" b="1" i="0">
                <a:solidFill>
                  <a:srgbClr val="14805E"/>
                </a:solidFill>
                <a:latin typeface="Consolas"/>
              </a:defRPr>
            </a:pPr>
            <a:r>
              <a:t>DATA PLANE — in the customer's runtime</a:t>
            </a:r>
          </a:p>
          <a:p>
            <a:pPr>
              <a:spcAft>
                <a:spcPts val="600"/>
              </a:spcAft>
              <a:defRPr sz="1250" b="0" i="0">
                <a:solidFill>
                  <a:srgbClr val="1C2521"/>
                </a:solidFill>
                <a:latin typeface="Segoe UI"/>
              </a:defRPr>
            </a:pPr>
            <a:r>
              <a:t>• graxella.mesh / instrument — one-line wrap over native agents</a:t>
            </a:r>
          </a:p>
          <a:p>
            <a:pPr>
              <a:spcAft>
                <a:spcPts val="600"/>
              </a:spcAft>
              <a:defRPr sz="1250" b="0" i="0">
                <a:solidFill>
                  <a:srgbClr val="1C2521"/>
                </a:solidFill>
                <a:latin typeface="Segoe UI"/>
              </a:defRPr>
            </a:pPr>
            <a:r>
              <a:t>• Deterministic router (agent2society) — TF-IDF or small local embed</a:t>
            </a:r>
          </a:p>
          <a:p>
            <a:pPr>
              <a:spcAft>
                <a:spcPts val="600"/>
              </a:spcAft>
              <a:defRPr sz="1250" b="0" i="0">
                <a:solidFill>
                  <a:srgbClr val="1C2521"/>
                </a:solidFill>
                <a:latin typeface="Segoe UI"/>
              </a:defRPr>
            </a:pPr>
            <a:r>
              <a:t>• Handoff runtime — bounded multi-hop, budgets, loop detection</a:t>
            </a:r>
          </a:p>
          <a:p>
            <a:pPr>
              <a:spcAft>
                <a:spcPts val="600"/>
              </a:spcAft>
              <a:defRPr sz="1250" b="0" i="0">
                <a:solidFill>
                  <a:srgbClr val="1C2521"/>
                </a:solidFill>
                <a:latin typeface="Segoe UI"/>
              </a:defRPr>
            </a:pPr>
            <a:r>
              <a:t>• Healing dispatch (brownbrillion) — promoted recipes applied at call time</a:t>
            </a:r>
          </a:p>
          <a:p>
            <a:pPr>
              <a:spcAft>
                <a:spcPts val="600"/>
              </a:spcAft>
              <a:defRPr sz="1250" b="0" i="0">
                <a:solidFill>
                  <a:srgbClr val="1C2521"/>
                </a:solidFill>
                <a:latin typeface="Segoe UI"/>
              </a:defRPr>
            </a:pPr>
            <a:r>
              <a:t>• Adapters: LangGraph · CrewAI · AutoGen · MCP · A2A · plain callables</a:t>
            </a:r>
          </a:p>
          <a:p>
            <a:pPr>
              <a:spcAft>
                <a:spcPts val="600"/>
              </a:spcAft>
              <a:defRPr sz="1250" b="0" i="0">
                <a:solidFill>
                  <a:srgbClr val="1C2521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250" b="0" i="0">
                <a:solidFill>
                  <a:srgbClr val="5C6A63"/>
                </a:solidFill>
                <a:latin typeface="Segoe UI"/>
              </a:defRPr>
            </a:pPr>
            <a:r>
              <a:t>Embedded, framework-agnostic, no network dependency on the hot path.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828800"/>
            <a:ext cx="5257800" cy="3977639"/>
          </a:xfrm>
          <a:prstGeom prst="roundRect">
            <a:avLst>
              <a:gd name="adj" fmla="val 6000"/>
            </a:avLst>
          </a:prstGeom>
          <a:solidFill>
            <a:srgbClr val="E2EFE9"/>
          </a:solidFill>
          <a:ln w="12700">
            <a:solidFill>
              <a:srgbClr val="1480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46304"/>
          <a:lstStyle/>
          <a:p>
            <a:pPr algn="ctr">
              <a:spcAft>
                <a:spcPts val="800"/>
              </a:spcAft>
              <a:defRPr sz="1300" b="1" i="0">
                <a:solidFill>
                  <a:srgbClr val="14805E"/>
                </a:solidFill>
                <a:latin typeface="Consolas"/>
              </a:defRPr>
            </a:pPr>
            <a:r>
              <a:t>CONTROL PLANE — multi-tenant service</a:t>
            </a:r>
          </a:p>
          <a:p>
            <a:pPr>
              <a:spcAft>
                <a:spcPts val="600"/>
              </a:spcAft>
              <a:defRPr sz="1250" b="0" i="0">
                <a:solidFill>
                  <a:srgbClr val="1C2521"/>
                </a:solidFill>
                <a:latin typeface="Segoe UI"/>
              </a:defRPr>
            </a:pPr>
            <a:r>
              <a:t>• Mnema ledger — immutable evidence store (SQLite edge / Postgres scale)</a:t>
            </a:r>
          </a:p>
          <a:p>
            <a:pPr>
              <a:spcAft>
                <a:spcPts val="600"/>
              </a:spcAft>
              <a:defRPr sz="1250" b="0" i="0">
                <a:solidFill>
                  <a:srgbClr val="1C2521"/>
                </a:solidFill>
                <a:latin typeface="Segoe UI"/>
              </a:defRPr>
            </a:pPr>
            <a:r>
              <a:t>• Evidence Gate — Bayesian promotion decisions, O(1) per decision</a:t>
            </a:r>
          </a:p>
          <a:p>
            <a:pPr>
              <a:spcAft>
                <a:spcPts val="600"/>
              </a:spcAft>
              <a:defRPr sz="1250" b="0" i="0">
                <a:solidFill>
                  <a:srgbClr val="1C2521"/>
                </a:solidFill>
                <a:latin typeface="Segoe UI"/>
              </a:defRPr>
            </a:pPr>
            <a:r>
              <a:t>• Offline miners (axon + agenda) — episodes + docs → proposals</a:t>
            </a:r>
          </a:p>
          <a:p>
            <a:pPr>
              <a:spcAft>
                <a:spcPts val="600"/>
              </a:spcAft>
              <a:defRPr sz="1250" b="0" i="0">
                <a:solidFill>
                  <a:srgbClr val="1C2521"/>
                </a:solidFill>
                <a:latin typeface="Segoe UI"/>
              </a:defRPr>
            </a:pPr>
            <a:r>
              <a:t>• Audit service — W3C PROV-O export, change-management reports</a:t>
            </a:r>
          </a:p>
          <a:p>
            <a:pPr>
              <a:spcAft>
                <a:spcPts val="600"/>
              </a:spcAft>
              <a:defRPr sz="1250" b="0" i="0">
                <a:solidFill>
                  <a:srgbClr val="1C2521"/>
                </a:solidFill>
                <a:latin typeface="Segoe UI"/>
              </a:defRPr>
            </a:pPr>
            <a:r>
              <a:t>• Value ledger — ROI and reliability curves as queries</a:t>
            </a:r>
          </a:p>
          <a:p>
            <a:pPr>
              <a:spcAft>
                <a:spcPts val="600"/>
              </a:spcAft>
              <a:defRPr sz="1250" b="0" i="0">
                <a:solidFill>
                  <a:srgbClr val="1C2521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250" b="0" i="0">
                <a:solidFill>
                  <a:srgbClr val="5C6A63"/>
                </a:solidFill>
                <a:latin typeface="Segoe UI"/>
              </a:defRPr>
            </a:pPr>
            <a:r>
              <a:t>Horizontally scalable, sharded by namespace · domain. Evidence never leaks across tenants or domains.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 i="0">
                <a:solidFill>
                  <a:srgbClr val="5C6A63"/>
                </a:solidFill>
                <a:latin typeface="Consolas"/>
              </a:defRPr>
            </a:pPr>
            <a:r>
              <a:t>GRAXELLA · THE EVIDENCE LOOP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i="0">
                <a:solidFill>
                  <a:srgbClr val="14805E"/>
                </a:solidFill>
                <a:latin typeface="Consolas"/>
              </a:defRPr>
            </a:pPr>
            <a:r>
              <a:t>COMPONENT DEEP DIVE · 1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 i="0">
                <a:solidFill>
                  <a:srgbClr val="1C2521"/>
                </a:solidFill>
                <a:latin typeface="Segoe UI"/>
              </a:defRPr>
            </a:pPr>
            <a:r>
              <a:t>Mnema — the memory intelligence substrate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C6A63"/>
                </a:solidFill>
                <a:latin typeface="Segoe UI"/>
              </a:defRPr>
            </a:pPr>
            <a:r>
              <a:t>Not a vector cache. A belief system with version control — the single source of truth every governance decision reads from.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350">
                <a:solidFill>
                  <a:srgbClr val="14805E"/>
                </a:solidFill>
                <a:latin typeface="Segoe UI"/>
              </a:rPr>
              <a:t>Immutable typed assertions — </a:t>
            </a:r>
            <a:r>
              <a:rPr sz="1350">
                <a:solidFill>
                  <a:srgbClr val="1C2521"/>
                </a:solidFill>
                <a:latin typeface="Segoe UI"/>
              </a:rPr>
              <a:t>beliefs are never edited; revision = new assertion + supersedes link. History cannot be rewritten — by construction.</a:t>
            </a:r>
          </a:p>
          <a:p>
            <a:pPr>
              <a:spcAft>
                <a:spcPts val="800"/>
              </a:spcAft>
            </a:pPr>
            <a:r>
              <a:rPr b="1" sz="1350">
                <a:solidFill>
                  <a:srgbClr val="14805E"/>
                </a:solidFill>
                <a:latin typeface="Segoe UI"/>
              </a:rPr>
              <a:t>Bi-temporal by design — </a:t>
            </a:r>
            <a:r>
              <a:rPr sz="1350">
                <a:solidFill>
                  <a:srgbClr val="1C2521"/>
                </a:solidFill>
                <a:latin typeface="Segoe UI"/>
              </a:rPr>
              <a:t>valid_from/valid_to (true in the world) vs asserted_at (when learned). “What did we believe on May 3rd?” is a query.</a:t>
            </a:r>
          </a:p>
          <a:p>
            <a:pPr>
              <a:spcAft>
                <a:spcPts val="800"/>
              </a:spcAft>
            </a:pPr>
            <a:r>
              <a:rPr b="1" sz="1350">
                <a:solidFill>
                  <a:srgbClr val="14805E"/>
                </a:solidFill>
                <a:latin typeface="Segoe UI"/>
              </a:rPr>
              <a:t>Provenance is mandatory — </a:t>
            </a:r>
            <a:r>
              <a:rPr sz="1350">
                <a:solidFill>
                  <a:srgbClr val="1C2521"/>
                </a:solidFill>
                <a:latin typeface="Segoe UI"/>
              </a:rPr>
              <a:t>no anonymous beliefs. Every assertion carries origin (observed / told-by-user / told-by-agent / inferred / doc) and source id.</a:t>
            </a:r>
          </a:p>
          <a:p>
            <a:pPr>
              <a:spcAft>
                <a:spcPts val="800"/>
              </a:spcAft>
            </a:pPr>
            <a:r>
              <a:rPr b="1" sz="1350">
                <a:solidFill>
                  <a:srgbClr val="14805E"/>
                </a:solidFill>
                <a:latin typeface="Segoe UI"/>
              </a:rPr>
              <a:t>Content-addressed identity — </a:t>
            </a:r>
            <a:r>
              <a:rPr sz="1350">
                <a:solidFill>
                  <a:srgbClr val="1C2521"/>
                </a:solidFill>
                <a:latin typeface="Segoe UI"/>
              </a:rPr>
              <a:t>the hash covers propositional content only — confidence and status can evolve without forging identity.</a:t>
            </a:r>
          </a:p>
          <a:p>
            <a:pPr>
              <a:spcAft>
                <a:spcPts val="800"/>
              </a:spcAft>
            </a:pPr>
            <a:r>
              <a:rPr b="1" sz="1350">
                <a:solidFill>
                  <a:srgbClr val="14805E"/>
                </a:solidFill>
                <a:latin typeface="Segoe UI"/>
              </a:rPr>
              <a:t>Retraction cascade — </a:t>
            </a:r>
            <a:r>
              <a:rPr sz="1350">
                <a:solidFill>
                  <a:srgbClr val="1C2521"/>
                </a:solidFill>
                <a:latin typeface="Segoe UI"/>
              </a:rPr>
              <a:t>retract one belief and every belief derived from it is found and re-examined — the trust graph stays consistent.</a:t>
            </a:r>
          </a:p>
          <a:p>
            <a:pPr>
              <a:spcAft>
                <a:spcPts val="800"/>
              </a:spcAft>
            </a:pPr>
            <a:r>
              <a:rPr b="1" sz="1350">
                <a:solidFill>
                  <a:srgbClr val="14805E"/>
                </a:solidFill>
                <a:latin typeface="Segoe UI"/>
              </a:rPr>
              <a:t>Sleep/wake consolidation — </a:t>
            </a:r>
            <a:r>
              <a:rPr sz="1350">
                <a:solidFill>
                  <a:srgbClr val="1C2521"/>
                </a:solidFill>
                <a:latin typeface="Segoe UI"/>
              </a:rPr>
              <a:t>offline compression of episodes into stable beliefs (LLM allowed — it's compile time), with full citation of sources.</a:t>
            </a:r>
          </a:p>
          <a:p>
            <a:pPr>
              <a:spcAft>
                <a:spcPts val="800"/>
              </a:spcAft>
            </a:pPr>
            <a:r>
              <a:rPr b="1" sz="1350">
                <a:solidFill>
                  <a:srgbClr val="14805E"/>
                </a:solidFill>
                <a:latin typeface="Segoe UI"/>
              </a:rPr>
              <a:t>why() / timeline() — </a:t>
            </a:r>
            <a:r>
              <a:rPr sz="1350">
                <a:solidFill>
                  <a:srgbClr val="1C2521"/>
                </a:solidFill>
                <a:latin typeface="Segoe UI"/>
              </a:rPr>
              <a:t>any belief explains itself: who said it, what it derived from, what superseded it, when.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 i="0">
                <a:solidFill>
                  <a:srgbClr val="5C6A63"/>
                </a:solidFill>
                <a:latin typeface="Consolas"/>
              </a:defRPr>
            </a:pPr>
            <a:r>
              <a:t>GRAXELLA · THE EVIDENCE LOOP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i="0">
                <a:solidFill>
                  <a:srgbClr val="14805E"/>
                </a:solidFill>
                <a:latin typeface="Consolas"/>
              </a:defRPr>
            </a:pPr>
            <a:r>
              <a:t>COMPONENT DEEP DIVE · 2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 i="0">
                <a:solidFill>
                  <a:srgbClr val="1C2521"/>
                </a:solidFill>
                <a:latin typeface="Segoe UI"/>
              </a:defRPr>
            </a:pPr>
            <a:r>
              <a:t>agent2society — the deterministic agent-to-agent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C6A63"/>
                </a:solidFill>
                <a:latin typeface="Segoe UI"/>
              </a:defRPr>
            </a:pPr>
            <a:r>
              <a:t>Routing, handoffs, and governance between agents — with zero runtime LLM and a written explanation for every decision.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350">
                <a:solidFill>
                  <a:srgbClr val="14805E"/>
                </a:solidFill>
                <a:latin typeface="Segoe UI"/>
              </a:rPr>
              <a:t>Deterministic routing — </a:t>
            </a:r>
            <a:r>
              <a:rPr sz="1350">
                <a:solidFill>
                  <a:srgbClr val="1C2521"/>
                </a:solidFill>
                <a:latin typeface="Segoe UI"/>
              </a:rPr>
              <a:t>one embedding lookup (TF-IDF default, pluggable local models) scores every (agent, skill) pair — no supervisor LLM haggling in natural language.</a:t>
            </a:r>
          </a:p>
          <a:p>
            <a:pPr>
              <a:spcAft>
                <a:spcPts val="800"/>
              </a:spcAft>
            </a:pPr>
            <a:r>
              <a:rPr b="1" sz="1350">
                <a:solidFill>
                  <a:srgbClr val="14805E"/>
                </a:solidFill>
                <a:latin typeface="Segoe UI"/>
              </a:rPr>
              <a:t>Audit features on every score — </a:t>
            </a:r>
            <a:r>
              <a:rPr sz="1350">
                <a:solidFill>
                  <a:srgbClr val="1C2521"/>
                </a:solidFill>
                <a:latin typeface="Segoe UI"/>
              </a:rPr>
              <a:t>each candidate carries the matched tokens and overlapping tags that produced its number — a human can see why the score is what it is.</a:t>
            </a:r>
          </a:p>
          <a:p>
            <a:pPr>
              <a:spcAft>
                <a:spcPts val="800"/>
              </a:spcAft>
            </a:pPr>
            <a:r>
              <a:rPr b="1" sz="1350">
                <a:solidFill>
                  <a:srgbClr val="14805E"/>
                </a:solidFill>
                <a:latin typeface="Segoe UI"/>
              </a:rPr>
              <a:t>Handoff envelope — </a:t>
            </a:r>
            <a:r>
              <a:rPr sz="1350">
                <a:solidFill>
                  <a:srgbClr val="1C2521"/>
                </a:solidFill>
                <a:latin typeface="Segoe UI"/>
              </a:rPr>
              <a:t>task, intent, assumptions, confidence-required — a typed contract between agents, never user-authored JSON.</a:t>
            </a:r>
          </a:p>
          <a:p>
            <a:pPr>
              <a:spcAft>
                <a:spcPts val="800"/>
              </a:spcAft>
            </a:pPr>
            <a:r>
              <a:rPr b="1" sz="1350">
                <a:solidFill>
                  <a:srgbClr val="14805E"/>
                </a:solidFill>
                <a:latin typeface="Segoe UI"/>
              </a:rPr>
              <a:t>Conformance checking — </a:t>
            </a:r>
            <a:r>
              <a:rPr sz="1350">
                <a:solidFill>
                  <a:srgbClr val="1C2521"/>
                </a:solidFill>
                <a:latin typeface="Segoe UI"/>
              </a:rPr>
              <a:t>the top candidate is verified against the declared capability card; failures fall through to the next candidate, flagged.</a:t>
            </a:r>
          </a:p>
          <a:p>
            <a:pPr>
              <a:spcAft>
                <a:spcPts val="800"/>
              </a:spcAft>
            </a:pPr>
            <a:r>
              <a:rPr b="1" sz="1350">
                <a:solidFill>
                  <a:srgbClr val="14805E"/>
                </a:solidFill>
                <a:latin typeface="Segoe UI"/>
              </a:rPr>
              <a:t>Detection-only governance — </a:t>
            </a:r>
            <a:r>
              <a:rPr sz="1350">
                <a:solidFill>
                  <a:srgbClr val="1C2521"/>
                </a:solidFill>
                <a:latin typeface="Segoe UI"/>
              </a:rPr>
              <a:t>conflict, capability-drift, low-confidence, low-margin detectors fire structured events. Nothing auto-corrects silently.</a:t>
            </a:r>
          </a:p>
          <a:p>
            <a:pPr>
              <a:spcAft>
                <a:spcPts val="800"/>
              </a:spcAft>
            </a:pPr>
            <a:r>
              <a:rPr b="1" sz="1350">
                <a:solidFill>
                  <a:srgbClr val="14805E"/>
                </a:solidFill>
                <a:latin typeface="Segoe UI"/>
              </a:rPr>
              <a:t>Explanation store — </a:t>
            </a:r>
            <a:r>
              <a:rPr sz="1350">
                <a:solidFill>
                  <a:srgbClr val="1C2521"/>
                </a:solidFill>
                <a:latin typeface="Segoe UI"/>
              </a:rPr>
              <a:t>every routing decision is persisted as a replayable RoutingExplanation — the routing audit log doubles as training evidence.</a:t>
            </a:r>
          </a:p>
          <a:p>
            <a:pPr>
              <a:spcAft>
                <a:spcPts val="800"/>
              </a:spcAft>
            </a:pPr>
            <a:r>
              <a:rPr b="1" sz="1350">
                <a:solidFill>
                  <a:srgbClr val="14805E"/>
                </a:solidFill>
                <a:latin typeface="Segoe UI"/>
              </a:rPr>
              <a:t>Backtest-gated optimizer — </a:t>
            </a:r>
            <a:r>
              <a:rPr sz="1350">
                <a:solidFill>
                  <a:srgbClr val="1C2521"/>
                </a:solidFill>
                <a:latin typeface="Segoe UI"/>
              </a:rPr>
              <a:t>proposed skill-tag improvements must win on recorded history before they're even proposed for promotion.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 i="0">
                <a:solidFill>
                  <a:srgbClr val="5C6A63"/>
                </a:solidFill>
                <a:latin typeface="Consolas"/>
              </a:defRPr>
            </a:pPr>
            <a:r>
              <a:t>GRAXELLA · THE EVIDENCE LOOP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i="0">
                <a:solidFill>
                  <a:srgbClr val="14805E"/>
                </a:solidFill>
                <a:latin typeface="Consolas"/>
              </a:defRPr>
            </a:pPr>
            <a:r>
              <a:t>COMPONENT DEEP DIVE · 3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 i="0">
                <a:solidFill>
                  <a:srgbClr val="1C2521"/>
                </a:solidFill>
                <a:latin typeface="Segoe UI"/>
              </a:defRPr>
            </a:pPr>
            <a:r>
              <a:t>The Evidence Gate — governance without rules or judges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C6A63"/>
                </a:solidFill>
                <a:latin typeface="Segoe UI"/>
              </a:defRPr>
            </a:pPr>
            <a:r>
              <a:t>No scoring rubric, no rule DSL, no LLM judge. One question, answered from the ledger: what happened the last N times this change was made in this domain?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6492240" cy="3108960"/>
          </a:xfrm>
          <a:prstGeom prst="roundRect">
            <a:avLst>
              <a:gd name="adj" fmla="val 6000"/>
            </a:avLst>
          </a:prstGeom>
          <a:solidFill>
            <a:srgbClr val="F0F4F0"/>
          </a:solidFill>
          <a:ln w="12700">
            <a:solidFill>
              <a:srgbClr val="DC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89611"/>
          <a:lstStyle/>
          <a:p>
            <a:pPr algn="l">
              <a:spcAft>
                <a:spcPts val="600"/>
              </a:spcAft>
              <a:defRPr sz="1250" b="0" i="0">
                <a:solidFill>
                  <a:srgbClr val="5C6A63"/>
                </a:solidFill>
                <a:latin typeface="Consolas"/>
              </a:defRPr>
            </a:pPr>
            <a:r>
              <a:t># gate.why(promotion_2841)</a:t>
            </a:r>
          </a:p>
          <a:p>
            <a:pPr algn="l">
              <a:spcAft>
                <a:spcPts val="600"/>
              </a:spcAft>
              <a:defRPr sz="1250" b="1" i="0">
                <a:solidFill>
                  <a:srgbClr val="1C2521"/>
                </a:solidFill>
                <a:latin typeface="Consolas"/>
              </a:defRPr>
            </a:pPr>
            <a:r>
              <a:t>decision:   AUTO_APPROVE</a:t>
            </a:r>
          </a:p>
          <a:p>
            <a:pPr algn="l">
              <a:spcAft>
                <a:spcPts val="600"/>
              </a:spcAft>
              <a:defRPr sz="1250" b="0" i="0">
                <a:solidFill>
                  <a:srgbClr val="1C2521"/>
                </a:solidFill>
                <a:latin typeface="Consolas"/>
              </a:defRPr>
            </a:pPr>
            <a:r>
              <a:t>posterior:  0.94  (Beta(47+1, 2+1), domain=refunds)</a:t>
            </a:r>
          </a:p>
          <a:p>
            <a:pPr algn="l">
              <a:spcAft>
                <a:spcPts val="600"/>
              </a:spcAft>
              <a:defRPr sz="1250" b="0" i="0">
                <a:solidFill>
                  <a:srgbClr val="1C2521"/>
                </a:solidFill>
                <a:latin typeface="Consolas"/>
              </a:defRPr>
            </a:pPr>
            <a:r>
              <a:t>evidence:   47 successes · 2 failures · 9 sessions</a:t>
            </a:r>
          </a:p>
          <a:p>
            <a:pPr algn="l">
              <a:spcAft>
                <a:spcPts val="600"/>
              </a:spcAft>
              <a:defRPr sz="1250" b="0" i="0">
                <a:solidFill>
                  <a:srgbClr val="14805E"/>
                </a:solidFill>
                <a:latin typeface="Consolas"/>
              </a:defRPr>
            </a:pPr>
            <a:r>
              <a:t>citations:  [asr_e01f…, asr_a4c2…, asr_77b0…, +44]</a:t>
            </a:r>
          </a:p>
          <a:p>
            <a:pPr algn="l">
              <a:spcAft>
                <a:spcPts val="600"/>
              </a:spcAft>
              <a:defRPr sz="1250" b="0" i="0">
                <a:solidFill>
                  <a:srgbClr val="1C2521"/>
                </a:solidFill>
                <a:latin typeface="Consolas"/>
              </a:defRPr>
            </a:pPr>
            <a:r>
              <a:t>threshold:  0.90  (self-calibrated; cold-start=HUMAN)</a:t>
            </a:r>
          </a:p>
          <a:p>
            <a:pPr algn="l">
              <a:spcAft>
                <a:spcPts val="600"/>
              </a:spcAft>
              <a:defRPr sz="1250" b="0" i="0">
                <a:solidFill>
                  <a:srgbClr val="1C2521"/>
                </a:solidFill>
                <a:latin typeface="Consolas"/>
              </a:defRPr>
            </a:pPr>
            <a:r>
              <a:t>guards:     constitution PASS · blast=narrow · div=9≥3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103120"/>
            <a:ext cx="4206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200">
                <a:solidFill>
                  <a:srgbClr val="14805E"/>
                </a:solidFill>
                <a:latin typeface="Segoe UI"/>
              </a:rPr>
              <a:t>Bayesian, per-tuple — </a:t>
            </a:r>
            <a:r>
              <a:rPr sz="1200">
                <a:solidFill>
                  <a:srgbClr val="1C2521"/>
                </a:solidFill>
                <a:latin typeface="Segoe UI"/>
              </a:rPr>
              <a:t>closed-form posterior per (domain, kind, target). Cold domains: everything needs a human.</a:t>
            </a:r>
          </a:p>
          <a:p>
            <a:pPr>
              <a:spcAft>
                <a:spcPts val="700"/>
              </a:spcAft>
            </a:pPr>
            <a:r>
              <a:rPr b="1" sz="1200">
                <a:solidFill>
                  <a:srgbClr val="14805E"/>
                </a:solidFill>
                <a:latin typeface="Segoe UI"/>
              </a:rPr>
              <a:t>Self-calibrating — </a:t>
            </a:r>
            <a:r>
              <a:rPr sz="1200">
                <a:solidFill>
                  <a:srgbClr val="1C2521"/>
                </a:solidFill>
                <a:latin typeface="Segoe UI"/>
              </a:rPr>
              <a:t>thresholds loosen only for tuples with confirmed outcomes — and only there.</a:t>
            </a:r>
          </a:p>
          <a:p>
            <a:pPr>
              <a:spcAft>
                <a:spcPts val="700"/>
              </a:spcAft>
            </a:pPr>
            <a:r>
              <a:rPr b="1" sz="1200">
                <a:solidFill>
                  <a:srgbClr val="14805E"/>
                </a:solidFill>
                <a:latin typeface="Segoe UI"/>
              </a:rPr>
              <a:t>Poisoning defense — </a:t>
            </a:r>
            <a:r>
              <a:rPr sz="1200">
                <a:solidFill>
                  <a:srgbClr val="1C2521"/>
                </a:solidFill>
                <a:latin typeface="Segoe UI"/>
              </a:rPr>
              <a:t>loosening requires ≥K independent sessions and operators.</a:t>
            </a:r>
          </a:p>
          <a:p>
            <a:pPr>
              <a:spcAft>
                <a:spcPts val="700"/>
              </a:spcAft>
            </a:pPr>
            <a:r>
              <a:rPr b="1" sz="1200">
                <a:solidFill>
                  <a:srgbClr val="14805E"/>
                </a:solidFill>
                <a:latin typeface="Segoe UI"/>
              </a:rPr>
              <a:t>Hard blocks stay hard — </a:t>
            </a:r>
            <a:r>
              <a:rPr sz="1200">
                <a:solidFill>
                  <a:srgbClr val="1C2521"/>
                </a:solidFill>
                <a:latin typeface="Segoe UI"/>
              </a:rPr>
              <a:t>constitution invariants sit above the gate; evidence never bypasses them.</a:t>
            </a:r>
          </a:p>
          <a:p>
            <a:pPr>
              <a:spcAft>
                <a:spcPts val="700"/>
              </a:spcAft>
            </a:pPr>
            <a:r>
              <a:rPr b="1" sz="1200">
                <a:solidFill>
                  <a:srgbClr val="14805E"/>
                </a:solidFill>
                <a:latin typeface="Segoe UI"/>
              </a:rPr>
              <a:t>Self-auditing — </a:t>
            </a:r>
            <a:r>
              <a:rPr sz="1200">
                <a:solidFill>
                  <a:srgbClr val="1C2521"/>
                </a:solidFill>
                <a:latin typeface="Segoe UI"/>
              </a:rPr>
              <a:t>every verdict is itself a cited ledger assertion.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 i="0">
                <a:solidFill>
                  <a:srgbClr val="5C6A63"/>
                </a:solidFill>
                <a:latin typeface="Consolas"/>
              </a:defRPr>
            </a:pPr>
            <a:r>
              <a:t>GRAXELLA · THE EVIDENCE LOOP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i="0">
                <a:solidFill>
                  <a:srgbClr val="14805E"/>
                </a:solidFill>
                <a:latin typeface="Consolas"/>
              </a:defRPr>
            </a:pPr>
            <a:r>
              <a:t>ADOPTION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 i="0">
                <a:solidFill>
                  <a:srgbClr val="1C2521"/>
                </a:solidFill>
                <a:latin typeface="Segoe UI"/>
              </a:defRPr>
            </a:pPr>
            <a:r>
              <a:t>Switching is one line — and reversible at every step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0881360" cy="1600200"/>
          </a:xfrm>
          <a:prstGeom prst="roundRect">
            <a:avLst>
              <a:gd name="adj" fmla="val 6000"/>
            </a:avLst>
          </a:prstGeom>
          <a:solidFill>
            <a:srgbClr val="F0F4F0"/>
          </a:solidFill>
          <a:ln w="12700">
            <a:solidFill>
              <a:srgbClr val="DC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89611"/>
          <a:lstStyle/>
          <a:p>
            <a:pPr algn="l">
              <a:spcAft>
                <a:spcPts val="400"/>
              </a:spcAft>
              <a:defRPr sz="1200" b="0" i="0">
                <a:solidFill>
                  <a:srgbClr val="5C6A63"/>
                </a:solidFill>
                <a:latin typeface="Consolas"/>
              </a:defRPr>
            </a:pPr>
            <a:r>
              <a:t># your code today — unchanged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1C2521"/>
                </a:solidFill>
                <a:latin typeface="Consolas"/>
              </a:defRPr>
            </a:pPr>
            <a:r>
              <a:t>triage    = create_react_agent(llm, [check_order, lookup_policy], name="triage")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1C2521"/>
                </a:solidFill>
                <a:latin typeface="Consolas"/>
              </a:defRPr>
            </a:pPr>
            <a:r>
              <a:t>responder = create_react_agent(llm, [draft_email], name="responder")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5C6A63"/>
                </a:solidFill>
                <a:latin typeface="Consolas"/>
              </a:defRPr>
            </a:pPr>
            <a:r>
              <a:t># the switch — one wrap, same call surface, nothing removed</a:t>
            </a:r>
          </a:p>
          <a:p>
            <a:pPr algn="l">
              <a:spcAft>
                <a:spcPts val="400"/>
              </a:spcAft>
              <a:defRPr sz="1200" b="1" i="0">
                <a:solidFill>
                  <a:srgbClr val="14805E"/>
                </a:solidFill>
                <a:latin typeface="Consolas"/>
              </a:defRPr>
            </a:pPr>
            <a:r>
              <a:t>app = graxella.mesh([triage, responder], memory=graxella.Memory.sqlite("./mnema.db"))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611880"/>
            <a:ext cx="2651760" cy="1691640"/>
          </a:xfrm>
          <a:prstGeom prst="roundRect">
            <a:avLst>
              <a:gd name="adj" fmla="val 6000"/>
            </a:avLst>
          </a:prstGeom>
          <a:solidFill>
            <a:srgbClr val="F0F4F0"/>
          </a:solidFill>
          <a:ln w="12700">
            <a:solidFill>
              <a:srgbClr val="DC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spcAft>
                <a:spcPts val="500"/>
              </a:spcAft>
              <a:defRPr sz="1250" b="1" i="0">
                <a:solidFill>
                  <a:srgbClr val="14805E"/>
                </a:solidFill>
                <a:latin typeface="Consolas"/>
              </a:defRPr>
            </a:pPr>
            <a:r>
              <a:t>1 · OBSERVE</a:t>
            </a:r>
          </a:p>
          <a:p>
            <a:pPr>
              <a:defRPr sz="1150" b="0" i="0">
                <a:solidFill>
                  <a:srgbClr val="1C2521"/>
                </a:solidFill>
                <a:latin typeface="Segoe UI"/>
              </a:defRPr>
            </a:pPr>
            <a:r>
              <a:t>Wrap existing agents. Framework code unchanged; graxella only records. Risk: zero.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3611880"/>
            <a:ext cx="2651760" cy="1691640"/>
          </a:xfrm>
          <a:prstGeom prst="roundRect">
            <a:avLst>
              <a:gd name="adj" fmla="val 6000"/>
            </a:avLst>
          </a:prstGeom>
          <a:solidFill>
            <a:srgbClr val="F0F4F0"/>
          </a:solidFill>
          <a:ln w="12700">
            <a:solidFill>
              <a:srgbClr val="DC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spcAft>
                <a:spcPts val="500"/>
              </a:spcAft>
              <a:defRPr sz="1250" b="1" i="0">
                <a:solidFill>
                  <a:srgbClr val="14805E"/>
                </a:solidFill>
                <a:latin typeface="Consolas"/>
              </a:defRPr>
            </a:pPr>
            <a:r>
              <a:t>2 · EVIDENCE</a:t>
            </a:r>
          </a:p>
          <a:p>
            <a:pPr>
              <a:defRPr sz="1150" b="0" i="0">
                <a:solidFill>
                  <a:srgbClr val="1C2521"/>
                </a:solidFill>
                <a:latin typeface="Segoe UI"/>
              </a:defRPr>
            </a:pPr>
            <a:r>
              <a:t>Decisions + outcomes accrue in the ledger. Baseline cost/task and success dashboards appear.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3611880"/>
            <a:ext cx="2651760" cy="1691640"/>
          </a:xfrm>
          <a:prstGeom prst="roundRect">
            <a:avLst>
              <a:gd name="adj" fmla="val 6000"/>
            </a:avLst>
          </a:prstGeom>
          <a:solidFill>
            <a:srgbClr val="F0F4F0"/>
          </a:solidFill>
          <a:ln w="12700">
            <a:solidFill>
              <a:srgbClr val="DC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spcAft>
                <a:spcPts val="500"/>
              </a:spcAft>
              <a:defRPr sz="1250" b="1" i="0">
                <a:solidFill>
                  <a:srgbClr val="14805E"/>
                </a:solidFill>
                <a:latin typeface="Consolas"/>
              </a:defRPr>
            </a:pPr>
            <a:r>
              <a:t>3 · GOVERN</a:t>
            </a:r>
          </a:p>
          <a:p>
            <a:pPr>
              <a:defRPr sz="1150" b="0" i="0">
                <a:solidFill>
                  <a:srgbClr val="1C2521"/>
                </a:solidFill>
                <a:latin typeface="Segoe UI"/>
              </a:defRPr>
            </a:pPr>
            <a:r>
              <a:t>Turn the gate on. Proposals flow to human review; audit answers become one-line queries.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89136" y="3611880"/>
            <a:ext cx="2651760" cy="1691640"/>
          </a:xfrm>
          <a:prstGeom prst="roundRect">
            <a:avLst>
              <a:gd name="adj" fmla="val 6000"/>
            </a:avLst>
          </a:prstGeom>
          <a:solidFill>
            <a:srgbClr val="F0F4F0"/>
          </a:solidFill>
          <a:ln w="12700">
            <a:solidFill>
              <a:srgbClr val="DC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spcAft>
                <a:spcPts val="500"/>
              </a:spcAft>
              <a:defRPr sz="1250" b="1" i="0">
                <a:solidFill>
                  <a:srgbClr val="14805E"/>
                </a:solidFill>
                <a:latin typeface="Consolas"/>
              </a:defRPr>
            </a:pPr>
            <a:r>
              <a:t>4 · COMPOUND</a:t>
            </a:r>
          </a:p>
          <a:p>
            <a:pPr>
              <a:defRPr sz="1150" b="0" i="0">
                <a:solidFill>
                  <a:srgbClr val="1C2521"/>
                </a:solidFill>
                <a:latin typeface="Segoe UI"/>
              </a:defRPr>
            </a:pPr>
            <a:r>
              <a:t>Warmed domains auto-promote with citations. Reliability slope goes positive.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48640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250">
                <a:solidFill>
                  <a:srgbClr val="14805E"/>
                </a:solidFill>
                <a:latin typeface="Segoe UI"/>
              </a:rPr>
              <a:t>Keep your framework, keep both paths — </a:t>
            </a:r>
            <a:r>
              <a:rPr sz="1250">
                <a:solidFill>
                  <a:srgbClr val="1C2521"/>
                </a:solidFill>
                <a:latin typeface="Segoe UI"/>
              </a:rPr>
              <a:t>native LangGraph/CrewAI agents or graxella.Agent — both land in the same mesh; choice is always additive.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4805E"/>
                </a:solidFill>
                <a:latin typeface="Segoe UI"/>
              </a:rPr>
              <a:t>Runs alongside existing observability — </a:t>
            </a:r>
            <a:r>
              <a:rPr sz="1250">
                <a:solidFill>
                  <a:srgbClr val="1C2521"/>
                </a:solidFill>
                <a:latin typeface="Segoe UI"/>
              </a:rPr>
              <a:t>OTel traces delegate to your APM; graxella adds the decision layer APM can't see. Unwrap anytime — your agents still run.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 i="0">
                <a:solidFill>
                  <a:srgbClr val="5C6A63"/>
                </a:solidFill>
                <a:latin typeface="Consolas"/>
              </a:defRPr>
            </a:pPr>
            <a:r>
              <a:t>GRAXELLA · THE EVIDENCE LOOP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i="0">
                <a:solidFill>
                  <a:srgbClr val="14805E"/>
                </a:solidFill>
                <a:latin typeface="Consolas"/>
              </a:defRPr>
            </a:pPr>
            <a:r>
              <a:t>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 i="0">
                <a:solidFill>
                  <a:srgbClr val="1C2521"/>
                </a:solidFill>
                <a:latin typeface="Segoe UI"/>
              </a:defRPr>
            </a:pPr>
            <a:r>
              <a:t>Six phases, 26 weeks — every phase ends in buyer-visible value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088136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868680"/>
                <a:gridCol w="4206240"/>
                <a:gridCol w="3703320"/>
              </a:tblGrid>
              <a:tr h="384048">
                <a:tc>
                  <a:txBody>
                    <a:bodyPr wrap="square"/>
                    <a:lstStyle/>
                    <a:p>
                      <a:pPr>
                        <a:defRPr sz="1050" b="1" i="0">
                          <a:solidFill>
                            <a:srgbClr val="14805E"/>
                          </a:solidFill>
                          <a:latin typeface="Consolas"/>
                        </a:defRPr>
                      </a:pPr>
                      <a:r>
                        <a:t>PHASE</a:t>
                      </a:r>
                    </a:p>
                  </a:txBody>
                  <a:tcPr marL="82296" marR="82296" marT="36576" marB="36576" anchor="ctr">
                    <a:solidFill>
                      <a:srgbClr val="E2EFE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 i="0">
                          <a:solidFill>
                            <a:srgbClr val="14805E"/>
                          </a:solidFill>
                          <a:latin typeface="Consolas"/>
                        </a:defRPr>
                      </a:pPr>
                      <a:r>
                        <a:t>WEEKS</a:t>
                      </a:r>
                    </a:p>
                  </a:txBody>
                  <a:tcPr marL="82296" marR="82296" marT="36576" marB="36576" anchor="ctr">
                    <a:solidFill>
                      <a:srgbClr val="E2EFE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 i="0">
                          <a:solidFill>
                            <a:srgbClr val="14805E"/>
                          </a:solidFill>
                          <a:latin typeface="Consolas"/>
                        </a:defRPr>
                      </a:pPr>
                      <a:r>
                        <a:t>DELIVERS</a:t>
                      </a:r>
                    </a:p>
                  </a:txBody>
                  <a:tcPr marL="82296" marR="82296" marT="36576" marB="36576" anchor="ctr">
                    <a:solidFill>
                      <a:srgbClr val="E2EFE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 i="0">
                          <a:solidFill>
                            <a:srgbClr val="14805E"/>
                          </a:solidFill>
                          <a:latin typeface="Consolas"/>
                        </a:defRPr>
                      </a:pPr>
                      <a:r>
                        <a:t>EXIT PROOF</a:t>
                      </a:r>
                    </a:p>
                  </a:txBody>
                  <a:tcPr marL="82296" marR="82296" marT="36576" marB="36576" anchor="ctr">
                    <a:solidFill>
                      <a:srgbClr val="E2EFE9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>
                        <a:defRPr sz="1150" b="1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0 · Truth flows</a:t>
                      </a:r>
                    </a:p>
                  </a:txBody>
                  <a:tcPr marL="82296" marR="82296" marT="36576" marB="36576" anchor="ctr">
                    <a:solidFill>
                      <a:srgbClr val="FAFB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1–3</a:t>
                      </a:r>
                    </a:p>
                  </a:txBody>
                  <a:tcPr marL="82296" marR="82296" marT="36576" marB="36576" anchor="ctr">
                    <a:solidFill>
                      <a:srgbClr val="FAFB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Auto-recorded typed outcomes; packaging, tests, loud failures</a:t>
                      </a:r>
                    </a:p>
                  </a:txBody>
                  <a:tcPr marL="82296" marR="82296" marT="36576" marB="36576" anchor="ctr">
                    <a:solidFill>
                      <a:srgbClr val="FAFB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Every routed task yields a cited decision+outcome pair</a:t>
                      </a:r>
                    </a:p>
                  </a:txBody>
                  <a:tcPr marL="82296" marR="82296" marT="36576" marB="36576" anchor="ctr">
                    <a:solidFill>
                      <a:srgbClr val="FAFBF9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>
                        <a:defRPr sz="1150" b="1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1 · Evidence Gate</a:t>
                      </a:r>
                    </a:p>
                  </a:txBody>
                  <a:tcPr marL="82296" marR="82296" marT="36576" marB="36576" anchor="ctr">
                    <a:solidFill>
                      <a:srgbClr val="F0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3–8</a:t>
                      </a:r>
                    </a:p>
                  </a:txBody>
                  <a:tcPr marL="82296" marR="82296" marT="36576" marB="36576" anchor="ctr">
                    <a:solidFill>
                      <a:srgbClr val="F0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Bayesian gate replaces scored policy; one unified proposal pipeline</a:t>
                      </a:r>
                    </a:p>
                  </a:txBody>
                  <a:tcPr marL="82296" marR="82296" marT="36576" marB="36576" anchor="ctr">
                    <a:solidFill>
                      <a:srgbClr val="F0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Same proposal: blocked cold, auto-approved after N cited successes</a:t>
                      </a:r>
                    </a:p>
                  </a:txBody>
                  <a:tcPr marL="82296" marR="82296" marT="36576" marB="36576" anchor="ctr">
                    <a:solidFill>
                      <a:srgbClr val="F0F4F0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>
                        <a:defRPr sz="1150" b="1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2 · Handoff Runtime</a:t>
                      </a:r>
                    </a:p>
                  </a:txBody>
                  <a:tcPr marL="82296" marR="82296" marT="36576" marB="36576" anchor="ctr">
                    <a:solidFill>
                      <a:srgbClr val="FAFB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8–14</a:t>
                      </a:r>
                    </a:p>
                  </a:txBody>
                  <a:tcPr marL="82296" marR="82296" marT="36576" marB="36576" anchor="ctr">
                    <a:solidFill>
                      <a:srgbClr val="FAFB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Bounded multi-hop dispatch; chain-level outcomes and healing</a:t>
                      </a:r>
                    </a:p>
                  </a:txBody>
                  <a:tcPr marL="82296" marR="82296" marT="36576" marB="36576" anchor="ctr">
                    <a:solidFill>
                      <a:srgbClr val="FAFB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Injected fault at hop 3 self-heals the following week</a:t>
                      </a:r>
                    </a:p>
                  </a:txBody>
                  <a:tcPr marL="82296" marR="82296" marT="36576" marB="36576" anchor="ctr">
                    <a:solidFill>
                      <a:srgbClr val="FAFBF9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>
                        <a:defRPr sz="1150" b="1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3 · Scale substrate</a:t>
                      </a:r>
                    </a:p>
                  </a:txBody>
                  <a:tcPr marL="82296" marR="82296" marT="36576" marB="36576" anchor="ctr">
                    <a:solidFill>
                      <a:srgbClr val="F0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14–20</a:t>
                      </a:r>
                    </a:p>
                  </a:txBody>
                  <a:tcPr marL="82296" marR="82296" marT="36576" marB="36576" anchor="ctr">
                    <a:solidFill>
                      <a:srgbClr val="F0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Control/data-plane split; Postgres ledger; OTel; async</a:t>
                      </a:r>
                    </a:p>
                  </a:txBody>
                  <a:tcPr marL="82296" marR="82296" marT="36576" marB="36576" anchor="ctr">
                    <a:solidFill>
                      <a:srgbClr val="F0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Route p50 &lt;10ms @ 1k agents; gate p50 &lt;5ms; crash-safe</a:t>
                      </a:r>
                    </a:p>
                  </a:txBody>
                  <a:tcPr marL="82296" marR="82296" marT="36576" marB="36576" anchor="ctr">
                    <a:solidFill>
                      <a:srgbClr val="F0F4F0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>
                        <a:defRPr sz="1150" b="1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4 · Value Ledger</a:t>
                      </a:r>
                    </a:p>
                  </a:txBody>
                  <a:tcPr marL="82296" marR="82296" marT="36576" marB="36576" anchor="ctr">
                    <a:solidFill>
                      <a:srgbClr val="FAFB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20–26</a:t>
                      </a:r>
                    </a:p>
                  </a:txBody>
                  <a:tcPr marL="82296" marR="82296" marT="36576" marB="36576" anchor="ctr">
                    <a:solidFill>
                      <a:srgbClr val="FAFB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ROI as query; reliability-slope dashboard; compliance pack</a:t>
                      </a:r>
                    </a:p>
                  </a:txBody>
                  <a:tcPr marL="82296" marR="82296" marT="36576" marB="36576" anchor="ctr">
                    <a:solidFill>
                      <a:srgbClr val="FAFB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“Wk 1: 71% @ $0.48/task → Wk 8: 94% @ $0.19” — all cited</a:t>
                      </a:r>
                    </a:p>
                  </a:txBody>
                  <a:tcPr marL="82296" marR="82296" marT="36576" marB="36576" anchor="ctr">
                    <a:solidFill>
                      <a:srgbClr val="FAFBF9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>
                        <a:defRPr sz="1150" b="1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5 · Ecosystem</a:t>
                      </a:r>
                    </a:p>
                  </a:txBody>
                  <a:tcPr marL="82296" marR="82296" marT="36576" marB="36576" anchor="ctr">
                    <a:solidFill>
                      <a:srgbClr val="F0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26+</a:t>
                      </a:r>
                    </a:p>
                  </a:txBody>
                  <a:tcPr marL="82296" marR="82296" marT="36576" marB="36576" anchor="ctr">
                    <a:solidFill>
                      <a:srgbClr val="F0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CrewAI/AutoGen adapters; MCP healing; evidence federation</a:t>
                      </a:r>
                    </a:p>
                  </a:txBody>
                  <a:tcPr marL="82296" marR="82296" marT="36576" marB="36576" anchor="ctr">
                    <a:solidFill>
                      <a:srgbClr val="F0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Same workflow crosses frameworks; ledger and curve intact</a:t>
                      </a:r>
                    </a:p>
                  </a:txBody>
                  <a:tcPr marL="82296" marR="82296" marT="36576" marB="36576" anchor="ctr">
                    <a:solidFill>
                      <a:srgbClr val="F0F4F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4739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 i="0">
                <a:solidFill>
                  <a:srgbClr val="5C6A63"/>
                </a:solidFill>
                <a:latin typeface="Consolas"/>
              </a:defRPr>
            </a:pPr>
            <a:r>
              <a:t>GRAXELLA · THE EVIDENCE LOOP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i="0">
                <a:solidFill>
                  <a:srgbClr val="14805E"/>
                </a:solidFill>
                <a:latin typeface="Consolas"/>
              </a:defRPr>
            </a:pPr>
            <a:r>
              <a:t>VALUE MADE VISIBLE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 i="0">
                <a:solidFill>
                  <a:srgbClr val="1C2521"/>
                </a:solidFill>
                <a:latin typeface="Segoe UI"/>
              </a:defRPr>
            </a:pPr>
            <a:r>
              <a:t>The numbers an enterprise finally gets to see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37360"/>
          <a:ext cx="10881360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840480"/>
                <a:gridCol w="4754880"/>
              </a:tblGrid>
              <a:tr h="384048">
                <a:tc>
                  <a:txBody>
                    <a:bodyPr wrap="square"/>
                    <a:lstStyle/>
                    <a:p>
                      <a:pPr>
                        <a:defRPr sz="1100" b="1" i="0">
                          <a:solidFill>
                            <a:srgbClr val="14805E"/>
                          </a:solidFill>
                          <a:latin typeface="Consolas"/>
                        </a:defRPr>
                      </a:pPr>
                      <a:r>
                        <a:t>METRIC</a:t>
                      </a:r>
                    </a:p>
                  </a:txBody>
                  <a:tcPr marL="82296" marR="82296" marT="36576" marB="36576" anchor="ctr">
                    <a:solidFill>
                      <a:srgbClr val="E2EFE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 i="0">
                          <a:solidFill>
                            <a:srgbClr val="14805E"/>
                          </a:solidFill>
                          <a:latin typeface="Consolas"/>
                        </a:defRPr>
                      </a:pPr>
                      <a:r>
                        <a:t>DEFINITION</a:t>
                      </a:r>
                    </a:p>
                  </a:txBody>
                  <a:tcPr marL="82296" marR="82296" marT="36576" marB="36576" anchor="ctr">
                    <a:solidFill>
                      <a:srgbClr val="E2EFE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 i="0">
                          <a:solidFill>
                            <a:srgbClr val="14805E"/>
                          </a:solidFill>
                          <a:latin typeface="Consolas"/>
                        </a:defRPr>
                      </a:pPr>
                      <a:r>
                        <a:t>WHY IT'S THE HEADLINE</a:t>
                      </a:r>
                    </a:p>
                  </a:txBody>
                  <a:tcPr marL="82296" marR="82296" marT="36576" marB="36576" anchor="ctr">
                    <a:solidFill>
                      <a:srgbClr val="E2EFE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defRPr sz="1200" b="1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Reliability slope</a:t>
                      </a:r>
                    </a:p>
                  </a:txBody>
                  <a:tcPr marL="82296" marR="82296" marT="36576" marB="36576" anchor="ctr">
                    <a:solidFill>
                      <a:srgbClr val="FAFB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Δ task success per 1,000 runs</a:t>
                      </a:r>
                    </a:p>
                  </a:txBody>
                  <a:tcPr marL="82296" marR="82296" marT="36576" marB="36576" anchor="ctr">
                    <a:solidFill>
                      <a:srgbClr val="FAFB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The compounding claim, falsifiable. Everyone else's slope is ~zero.</a:t>
                      </a:r>
                    </a:p>
                  </a:txBody>
                  <a:tcPr marL="82296" marR="82296" marT="36576" marB="36576" anchor="ctr">
                    <a:solidFill>
                      <a:srgbClr val="FAFB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defRPr sz="1200" b="1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Cost / completed task</a:t>
                      </a:r>
                    </a:p>
                  </a:txBody>
                  <a:tcPr marL="82296" marR="82296" marT="36576" marB="36576" anchor="ctr">
                    <a:solidFill>
                      <a:srgbClr val="F0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Spend ÷ successful completions, trended</a:t>
                      </a:r>
                    </a:p>
                  </a:txBody>
                  <a:tcPr marL="82296" marR="82296" marT="36576" marB="36576" anchor="ctr">
                    <a:solidFill>
                      <a:srgbClr val="F0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The CFO's number — falls as promotions accumulate.</a:t>
                      </a:r>
                    </a:p>
                  </a:txBody>
                  <a:tcPr marL="82296" marR="82296" marT="36576" marB="36576" anchor="ctr">
                    <a:solidFill>
                      <a:srgbClr val="F0F4F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defRPr sz="1200" b="1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MTTH</a:t>
                      </a:r>
                    </a:p>
                  </a:txBody>
                  <a:tcPr marL="82296" marR="82296" marT="36576" marB="36576" anchor="ctr">
                    <a:solidFill>
                      <a:srgbClr val="FAFB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Drift detected → healed in production</a:t>
                      </a:r>
                    </a:p>
                  </a:txBody>
                  <a:tcPr marL="82296" marR="82296" marT="36576" marB="36576" anchor="ctr">
                    <a:solidFill>
                      <a:srgbClr val="FAFB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Days (human) → minutes (gated auto-promotion).</a:t>
                      </a:r>
                    </a:p>
                  </a:txBody>
                  <a:tcPr marL="82296" marR="82296" marT="36576" marB="36576" anchor="ctr">
                    <a:solidFill>
                      <a:srgbClr val="FAFB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defRPr sz="1200" b="1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Auto-promotion rate</a:t>
                      </a:r>
                    </a:p>
                  </a:txBody>
                  <a:tcPr marL="82296" marR="82296" marT="36576" marB="36576" anchor="ctr">
                    <a:solidFill>
                      <a:srgbClr val="F0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% changes shipped by the gate, cited</a:t>
                      </a:r>
                    </a:p>
                  </a:txBody>
                  <a:tcPr marL="82296" marR="82296" marT="36576" marB="36576" anchor="ctr">
                    <a:solidFill>
                      <a:srgbClr val="F0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Governance scales without headcount.</a:t>
                      </a:r>
                    </a:p>
                  </a:txBody>
                  <a:tcPr marL="82296" marR="82296" marT="36576" marB="36576" anchor="ctr">
                    <a:solidFill>
                      <a:srgbClr val="F0F4F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defRPr sz="1200" b="1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Audit answerability</a:t>
                      </a:r>
                    </a:p>
                  </a:txBody>
                  <a:tcPr marL="82296" marR="82296" marT="36576" marB="36576" anchor="ctr">
                    <a:solidFill>
                      <a:srgbClr val="FAFB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% decisions with a complete why-chain</a:t>
                      </a:r>
                    </a:p>
                  </a:txBody>
                  <a:tcPr marL="82296" marR="82296" marT="36576" marB="36576" anchor="ctr">
                    <a:solidFill>
                      <a:srgbClr val="FAFB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100% by construction — the regulator metric.</a:t>
                      </a:r>
                    </a:p>
                  </a:txBody>
                  <a:tcPr marL="82296" marR="82296" marT="36576" marB="36576" anchor="ctr">
                    <a:solidFill>
                      <a:srgbClr val="FAFBF9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5029200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E2EFE9"/>
          </a:solidFill>
          <a:ln w="12700">
            <a:solidFill>
              <a:srgbClr val="1480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 i="0">
                <a:solidFill>
                  <a:srgbClr val="14805E"/>
                </a:solidFill>
                <a:latin typeface="Segoe UI"/>
              </a:defRPr>
            </a:pPr>
            <a:r>
              <a:t>The pilot report a VP reads without translation:  “Week 1: 71% success, $0.48/task.  Week 8: 94%, $0.19/task.  23 behavior changes shipped — every one cited, every one reversible.”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 i="0">
                <a:solidFill>
                  <a:srgbClr val="5C6A63"/>
                </a:solidFill>
                <a:latin typeface="Consolas"/>
              </a:defRPr>
            </a:pPr>
            <a:r>
              <a:t>GRAXELLA · THE EVIDENCE LOOP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i="0">
                <a:solidFill>
                  <a:srgbClr val="14805E"/>
                </a:solidFill>
                <a:latin typeface="Consolas"/>
              </a:defRPr>
            </a:pPr>
            <a:r>
              <a:t>DEFENSIBILITY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 i="0">
                <a:solidFill>
                  <a:srgbClr val="1C2521"/>
                </a:solidFill>
                <a:latin typeface="Segoe UI"/>
              </a:defRPr>
            </a:pPr>
            <a:r>
              <a:t>Why Graxella wins — and keeps winning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4805E"/>
                </a:solidFill>
                <a:latin typeface="Segoe UI"/>
              </a:rPr>
              <a:t>The corpus compounds — </a:t>
            </a:r>
            <a:r>
              <a:rPr sz="1500">
                <a:solidFill>
                  <a:srgbClr val="1C2521"/>
                </a:solidFill>
                <a:latin typeface="Segoe UI"/>
              </a:rPr>
              <a:t>every task run deepens the customer's own evidence ledger. Switching cost grows daily, honestly — the moat is the customer's history, which only graxella reads back as governance.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4805E"/>
                </a:solidFill>
                <a:latin typeface="Segoe UI"/>
              </a:rPr>
              <a:t>Auditability can't be retrofitted — </a:t>
            </a:r>
            <a:r>
              <a:rPr sz="1500">
                <a:solidFill>
                  <a:srgbClr val="1C2521"/>
                </a:solidFill>
                <a:latin typeface="Segoe UI"/>
              </a:rPr>
              <a:t>stacks built on runtime LLM judgment cannot recover citations they never recorded. Graxella's trail exists by construction, not by instrumentation.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4805E"/>
                </a:solidFill>
                <a:latin typeface="Segoe UI"/>
              </a:rPr>
              <a:t>The economics invert at scale — </a:t>
            </a:r>
            <a:r>
              <a:rPr sz="1500">
                <a:solidFill>
                  <a:srgbClr val="1C2521"/>
                </a:solidFill>
                <a:latin typeface="Segoe UI"/>
              </a:rPr>
              <a:t>per-decision LLM governance gets more expensive with volume; a ledger lookup gets cheaper. The bigger the deployment, the wider the advantage.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4805E"/>
                </a:solidFill>
                <a:latin typeface="Segoe UI"/>
              </a:rPr>
              <a:t>Framework churn is a tailwind — </a:t>
            </a:r>
            <a:r>
              <a:rPr sz="1500">
                <a:solidFill>
                  <a:srgbClr val="1C2521"/>
                </a:solidFill>
                <a:latin typeface="Segoe UI"/>
              </a:rPr>
              <a:t>the surface mirrors whatever the customer already writes; the value lives underneath. Every migration proves the evidence ledger outlives the stack.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 i="0">
                <a:solidFill>
                  <a:srgbClr val="5C6A63"/>
                </a:solidFill>
                <a:latin typeface="Consolas"/>
              </a:defRPr>
            </a:pPr>
            <a:r>
              <a:t>GRAXELLA · THE EVIDENCE LOOP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 i="0">
                <a:solidFill>
                  <a:srgbClr val="43C495"/>
                </a:solidFill>
                <a:latin typeface="Consolas"/>
              </a:defRPr>
            </a:pPr>
            <a:r>
              <a:t>GRAXELLA · THE EVIDENCE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 i="0">
                <a:solidFill>
                  <a:srgbClr val="FFFFFF"/>
                </a:solidFill>
                <a:latin typeface="Segoe UI"/>
              </a:defRPr>
            </a:pPr>
            <a:r>
              <a:t>Agents that get more reliable the more you run them —</a:t>
            </a:r>
          </a:p>
          <a:p>
            <a:pPr>
              <a:defRPr sz="3400" b="1" i="0">
                <a:solidFill>
                  <a:srgbClr val="43C495"/>
                </a:solidFill>
                <a:latin typeface="Segoe UI"/>
              </a:defRPr>
            </a:pPr>
            <a:r>
              <a:t>with a citation for every change, and a rollback for every mistake.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 i="0">
                <a:solidFill>
                  <a:srgbClr val="9AA8A0"/>
                </a:solidFill>
                <a:latin typeface="Consolas"/>
              </a:defRPr>
            </a:pPr>
            <a:r>
              <a:t>compile-time LLM &gt; runtime LLM   ·   detection-only governance</a:t>
            </a:r>
          </a:p>
          <a:p>
            <a:pPr>
              <a:spcAft>
                <a:spcPts val="600"/>
              </a:spcAft>
              <a:defRPr sz="1300" b="0" i="0">
                <a:solidFill>
                  <a:srgbClr val="9AA8A0"/>
                </a:solidFill>
                <a:latin typeface="Consolas"/>
              </a:defRPr>
            </a:pPr>
            <a:r>
              <a:t>memory-grounded, cited, self-calibrating   ·   silent plumbing, loud failures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 i="0">
                <a:solidFill>
                  <a:srgbClr val="7E8D85"/>
                </a:solidFill>
                <a:latin typeface="Consolas"/>
              </a:defRPr>
            </a:pPr>
            <a:r>
              <a:t>NEXT STEP: PHASE 0 — CLOSE THE LOOP (WEEKS 1–3)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